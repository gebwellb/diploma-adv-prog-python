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1"/>
  </p:notesMasterIdLst>
  <p:sldIdLst>
    <p:sldId id="257" r:id="rId5"/>
    <p:sldId id="312" r:id="rId6"/>
    <p:sldId id="313" r:id="rId7"/>
    <p:sldId id="314" r:id="rId8"/>
    <p:sldId id="316" r:id="rId9"/>
    <p:sldId id="315" r:id="rId10"/>
    <p:sldId id="317" r:id="rId11"/>
    <p:sldId id="318" r:id="rId12"/>
    <p:sldId id="323" r:id="rId13"/>
    <p:sldId id="321" r:id="rId14"/>
    <p:sldId id="322" r:id="rId15"/>
    <p:sldId id="348" r:id="rId16"/>
    <p:sldId id="324" r:id="rId17"/>
    <p:sldId id="325" r:id="rId18"/>
    <p:sldId id="327" r:id="rId19"/>
    <p:sldId id="328" r:id="rId20"/>
    <p:sldId id="329" r:id="rId21"/>
    <p:sldId id="330" r:id="rId22"/>
    <p:sldId id="349" r:id="rId23"/>
    <p:sldId id="331" r:id="rId24"/>
    <p:sldId id="332" r:id="rId25"/>
    <p:sldId id="346" r:id="rId26"/>
    <p:sldId id="347" r:id="rId27"/>
    <p:sldId id="333" r:id="rId28"/>
    <p:sldId id="354" r:id="rId29"/>
    <p:sldId id="340" r:id="rId30"/>
    <p:sldId id="334" r:id="rId31"/>
    <p:sldId id="343" r:id="rId32"/>
    <p:sldId id="344" r:id="rId33"/>
    <p:sldId id="345" r:id="rId34"/>
    <p:sldId id="335" r:id="rId35"/>
    <p:sldId id="338" r:id="rId36"/>
    <p:sldId id="336" r:id="rId37"/>
    <p:sldId id="341" r:id="rId38"/>
    <p:sldId id="353" r:id="rId39"/>
    <p:sldId id="352" r:id="rId40"/>
  </p:sldIdLst>
  <p:sldSz cx="12192000" cy="6858000"/>
  <p:notesSz cx="7104063" cy="10234613"/>
  <p:custDataLst>
    <p:tags r:id="rId4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E631FFDE-1010-498F-9120-6F57EFC23AC7}">
          <p14:sldIdLst>
            <p14:sldId id="257"/>
            <p14:sldId id="312"/>
            <p14:sldId id="313"/>
            <p14:sldId id="314"/>
            <p14:sldId id="316"/>
            <p14:sldId id="315"/>
            <p14:sldId id="317"/>
            <p14:sldId id="318"/>
            <p14:sldId id="323"/>
            <p14:sldId id="321"/>
            <p14:sldId id="322"/>
            <p14:sldId id="348"/>
            <p14:sldId id="324"/>
            <p14:sldId id="325"/>
            <p14:sldId id="327"/>
            <p14:sldId id="328"/>
            <p14:sldId id="329"/>
            <p14:sldId id="330"/>
            <p14:sldId id="349"/>
            <p14:sldId id="331"/>
            <p14:sldId id="332"/>
            <p14:sldId id="346"/>
            <p14:sldId id="347"/>
            <p14:sldId id="333"/>
            <p14:sldId id="354"/>
            <p14:sldId id="340"/>
            <p14:sldId id="334"/>
            <p14:sldId id="343"/>
            <p14:sldId id="344"/>
            <p14:sldId id="345"/>
            <p14:sldId id="335"/>
            <p14:sldId id="338"/>
            <p14:sldId id="336"/>
            <p14:sldId id="341"/>
            <p14:sldId id="353"/>
            <p14:sldId id="35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D81C24"/>
    <a:srgbClr val="D9262E"/>
    <a:srgbClr val="262626"/>
    <a:srgbClr val="C00000"/>
    <a:srgbClr val="CC0000"/>
    <a:srgbClr val="D8262E"/>
    <a:srgbClr val="9BBB59"/>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96" autoAdjust="0"/>
    <p:restoredTop sz="95109" autoAdjust="0"/>
  </p:normalViewPr>
  <p:slideViewPr>
    <p:cSldViewPr snapToGrid="0" snapToObjects="1">
      <p:cViewPr varScale="1">
        <p:scale>
          <a:sx n="78" d="100"/>
          <a:sy n="78" d="100"/>
        </p:scale>
        <p:origin x="1162" y="80"/>
      </p:cViewPr>
      <p:guideLst>
        <p:guide orient="horz" pos="2160"/>
        <p:guide pos="3840"/>
      </p:guideLst>
    </p:cSldViewPr>
  </p:slideViewPr>
  <p:notesTextViewPr>
    <p:cViewPr>
      <p:scale>
        <a:sx n="75" d="100"/>
        <a:sy n="75" d="100"/>
      </p:scale>
      <p:origin x="0" y="0"/>
    </p:cViewPr>
  </p:notesTextViewPr>
  <p:notesViewPr>
    <p:cSldViewPr snapToGrid="0" snapToObjects="1">
      <p:cViewPr varScale="1">
        <p:scale>
          <a:sx n="104" d="100"/>
          <a:sy n="104" d="100"/>
        </p:scale>
        <p:origin x="2756"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gs" Target="tags/tag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77EA1514-F326-1840-B15D-D4720038598B}" type="datetimeFigureOut">
              <a:rPr lang="en-US" smtClean="0"/>
              <a:t>9/2/2025</a:t>
            </a:fld>
            <a:endParaRPr lang="en-US" dirty="0"/>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dirty="0"/>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a:t>
            </a:fld>
            <a:endParaRPr lang="en-US" dirty="0"/>
          </a:p>
        </p:txBody>
      </p:sp>
    </p:spTree>
    <p:extLst>
      <p:ext uri="{BB962C8B-B14F-4D97-AF65-F5344CB8AC3E}">
        <p14:creationId xmlns:p14="http://schemas.microsoft.com/office/powerpoint/2010/main" val="822045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a:t>
            </a:fld>
            <a:endParaRPr lang="en-US" dirty="0"/>
          </a:p>
        </p:txBody>
      </p:sp>
    </p:spTree>
    <p:extLst>
      <p:ext uri="{BB962C8B-B14F-4D97-AF65-F5344CB8AC3E}">
        <p14:creationId xmlns:p14="http://schemas.microsoft.com/office/powerpoint/2010/main" val="39913439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9</a:t>
            </a:fld>
            <a:endParaRPr lang="en-US" dirty="0"/>
          </a:p>
        </p:txBody>
      </p:sp>
    </p:spTree>
    <p:extLst>
      <p:ext uri="{BB962C8B-B14F-4D97-AF65-F5344CB8AC3E}">
        <p14:creationId xmlns:p14="http://schemas.microsoft.com/office/powerpoint/2010/main" val="1853688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202122"/>
                </a:solidFill>
                <a:effectLst/>
                <a:latin typeface="Arial" panose="020B0604020202020204" pitchFamily="34" charset="0"/>
              </a:rPr>
              <a:t>Link: https://lemire.me/blog/2016/06/21/i-do-not-use-a-debugger/#:~:text=The%20author%20of%20Python%2C%20Guido,for%2090%25%20of%20his%20debugging.</a:t>
            </a:r>
            <a:br>
              <a:rPr lang="en-AU" b="0" i="0" dirty="0">
                <a:solidFill>
                  <a:srgbClr val="202122"/>
                </a:solidFill>
                <a:effectLst/>
                <a:latin typeface="Arial" panose="020B0604020202020204" pitchFamily="34" charset="0"/>
              </a:rPr>
            </a:br>
            <a:endParaRPr lang="en-AU" b="0" i="0" dirty="0">
              <a:solidFill>
                <a:srgbClr val="202122"/>
              </a:solidFill>
              <a:effectLst/>
              <a:latin typeface="Arial" panose="020B0604020202020204" pitchFamily="34" charset="0"/>
            </a:endParaRPr>
          </a:p>
          <a:p>
            <a:r>
              <a:rPr lang="en-US" dirty="0"/>
              <a:t>You don’t need to </a:t>
            </a:r>
            <a:r>
              <a:rPr lang="en-US" i="1" dirty="0"/>
              <a:t>use</a:t>
            </a:r>
            <a:r>
              <a:rPr lang="en-US" dirty="0"/>
              <a:t> a debugger to be a good programmer – but you </a:t>
            </a:r>
            <a:r>
              <a:rPr lang="en-US" b="1" dirty="0"/>
              <a:t>do</a:t>
            </a:r>
            <a:r>
              <a:rPr lang="en-US" dirty="0"/>
              <a:t> need to know </a:t>
            </a:r>
            <a:r>
              <a:rPr lang="en-US" i="1" dirty="0"/>
              <a:t>how</a:t>
            </a:r>
            <a:r>
              <a:rPr lang="en-US" dirty="0"/>
              <a:t> one is used.</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How useful it will be for you, how often you will reach for it, will depend on you: how your mind works and the kind of programming you do. Don’t feel you have to use a debugger if you are doing just fine debugging without one.</a:t>
            </a:r>
          </a:p>
          <a:p>
            <a:endParaRPr lang="en-AU" b="0" i="0" dirty="0">
              <a:solidFill>
                <a:srgbClr val="202122"/>
              </a:solidFill>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10</a:t>
            </a:fld>
            <a:endParaRPr lang="en-US" dirty="0"/>
          </a:p>
        </p:txBody>
      </p:sp>
    </p:spTree>
    <p:extLst>
      <p:ext uri="{BB962C8B-B14F-4D97-AF65-F5344CB8AC3E}">
        <p14:creationId xmlns:p14="http://schemas.microsoft.com/office/powerpoint/2010/main" val="2022664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-Generated by ChatGPT4</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11</a:t>
            </a:fld>
            <a:endParaRPr lang="en-US" dirty="0"/>
          </a:p>
        </p:txBody>
      </p:sp>
    </p:spTree>
    <p:extLst>
      <p:ext uri="{BB962C8B-B14F-4D97-AF65-F5344CB8AC3E}">
        <p14:creationId xmlns:p14="http://schemas.microsoft.com/office/powerpoint/2010/main" val="2480246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12</a:t>
            </a:fld>
            <a:endParaRPr lang="en-US" dirty="0"/>
          </a:p>
        </p:txBody>
      </p:sp>
    </p:spTree>
    <p:extLst>
      <p:ext uri="{BB962C8B-B14F-4D97-AF65-F5344CB8AC3E}">
        <p14:creationId xmlns:p14="http://schemas.microsoft.com/office/powerpoint/2010/main" val="1619912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800" b="0" i="0" dirty="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5"/>
          </p:nvPr>
        </p:nvSpPr>
        <p:spPr/>
        <p:txBody>
          <a:bodyPr/>
          <a:lstStyle/>
          <a:p>
            <a:fld id="{BA3E024E-F835-6D45-89C3-0E2F93EE799A}" type="slidenum">
              <a:rPr lang="en-US" smtClean="0"/>
              <a:t>14</a:t>
            </a:fld>
            <a:endParaRPr lang="en-US" dirty="0"/>
          </a:p>
        </p:txBody>
      </p:sp>
    </p:spTree>
    <p:extLst>
      <p:ext uri="{BB962C8B-B14F-4D97-AF65-F5344CB8AC3E}">
        <p14:creationId xmlns:p14="http://schemas.microsoft.com/office/powerpoint/2010/main" val="1229255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b="1" dirty="0"/>
              <a:t>Caveat</a:t>
            </a:r>
            <a:r>
              <a:rPr lang="en-US" dirty="0"/>
              <a:t>: PyCharm has an annoying bug in its debugger (ha!) that it shows the __str__ instead of the __</a:t>
            </a:r>
            <a:r>
              <a:rPr lang="en-US" dirty="0" err="1"/>
              <a:t>repr</a:t>
            </a:r>
            <a:r>
              <a:rPr lang="en-US" dirty="0"/>
              <a:t>__ though it may have recently (mid 2023, open since 2016) been fixed. </a:t>
            </a:r>
            <a:br>
              <a:rPr lang="en-US" dirty="0"/>
            </a:br>
            <a:br>
              <a:rPr lang="en-US" dirty="0"/>
            </a:br>
            <a:r>
              <a:rPr lang="en-US" dirty="0"/>
              <a:t>See:</a:t>
            </a:r>
            <a:br>
              <a:rPr lang="en-US" dirty="0"/>
            </a:br>
            <a:br>
              <a:rPr lang="en-US" dirty="0"/>
            </a:br>
            <a:r>
              <a:rPr lang="en-US" dirty="0"/>
              <a:t>https://</a:t>
            </a:r>
            <a:r>
              <a:rPr lang="en-US" dirty="0" err="1"/>
              <a:t>youtrack.jetbrains.com</a:t>
            </a:r>
            <a:r>
              <a:rPr lang="en-US" dirty="0"/>
              <a:t>/issue/PY-35529</a:t>
            </a:r>
            <a:br>
              <a:rPr lang="en-US" dirty="0"/>
            </a:br>
            <a:br>
              <a:rPr lang="en-US" dirty="0"/>
            </a:br>
            <a:br>
              <a:rPr lang="en-US" dirty="0"/>
            </a:br>
            <a:r>
              <a:rPr lang="en-US" dirty="0"/>
              <a:t>Why it matters:</a:t>
            </a:r>
            <a:br>
              <a:rPr lang="en-US" dirty="0"/>
            </a:br>
            <a:br>
              <a:rPr lang="en-US" dirty="0"/>
            </a:br>
            <a:r>
              <a:rPr lang="en-US" dirty="0"/>
              <a:t>https://</a:t>
            </a:r>
            <a:r>
              <a:rPr lang="en-US" dirty="0" err="1"/>
              <a:t>realpython.com</a:t>
            </a:r>
            <a:r>
              <a:rPr lang="en-US" dirty="0"/>
              <a:t>/python-</a:t>
            </a:r>
            <a:r>
              <a:rPr lang="en-US" dirty="0" err="1"/>
              <a:t>repr</a:t>
            </a:r>
            <a:r>
              <a:rPr lang="en-US" dirty="0"/>
              <a:t>-vs-str/</a:t>
            </a:r>
          </a:p>
        </p:txBody>
      </p:sp>
      <p:sp>
        <p:nvSpPr>
          <p:cNvPr id="4" name="Slide Number Placeholder 3"/>
          <p:cNvSpPr>
            <a:spLocks noGrp="1"/>
          </p:cNvSpPr>
          <p:nvPr>
            <p:ph type="sldNum" sz="quarter" idx="5"/>
          </p:nvPr>
        </p:nvSpPr>
        <p:spPr/>
        <p:txBody>
          <a:bodyPr/>
          <a:lstStyle/>
          <a:p>
            <a:fld id="{BA3E024E-F835-6D45-89C3-0E2F93EE799A}" type="slidenum">
              <a:rPr lang="en-US" smtClean="0"/>
              <a:t>16</a:t>
            </a:fld>
            <a:endParaRPr lang="en-US" dirty="0"/>
          </a:p>
        </p:txBody>
      </p:sp>
    </p:spTree>
    <p:extLst>
      <p:ext uri="{BB962C8B-B14F-4D97-AF65-F5344CB8AC3E}">
        <p14:creationId xmlns:p14="http://schemas.microsoft.com/office/powerpoint/2010/main" val="4223972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18</a:t>
            </a:fld>
            <a:endParaRPr lang="en-US" dirty="0"/>
          </a:p>
        </p:txBody>
      </p:sp>
    </p:spTree>
    <p:extLst>
      <p:ext uri="{BB962C8B-B14F-4D97-AF65-F5344CB8AC3E}">
        <p14:creationId xmlns:p14="http://schemas.microsoft.com/office/powerpoint/2010/main" val="13261401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in class code examples before taking on Activity 1</a:t>
            </a:r>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19</a:t>
            </a:fld>
            <a:endParaRPr lang="en-US" dirty="0"/>
          </a:p>
        </p:txBody>
      </p:sp>
    </p:spTree>
    <p:extLst>
      <p:ext uri="{BB962C8B-B14F-4D97-AF65-F5344CB8AC3E}">
        <p14:creationId xmlns:p14="http://schemas.microsoft.com/office/powerpoint/2010/main" val="1175635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24</a:t>
            </a:fld>
            <a:endParaRPr lang="en-US" dirty="0"/>
          </a:p>
        </p:txBody>
      </p:sp>
    </p:spTree>
    <p:extLst>
      <p:ext uri="{BB962C8B-B14F-4D97-AF65-F5344CB8AC3E}">
        <p14:creationId xmlns:p14="http://schemas.microsoft.com/office/powerpoint/2010/main" val="20435670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bg1"/>
                </a:solidFill>
                <a:latin typeface="Courier New" panose="02070309020205020404" pitchFamily="49" charset="0"/>
                <a:cs typeface="Courier New" panose="02070309020205020404" pitchFamily="49" charset="0"/>
              </a:rPr>
              <a:t>❯ python -m </a:t>
            </a:r>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--help</a:t>
            </a: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 the Python documentation tool</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&lt;name&gt; ...</a:t>
            </a:r>
          </a:p>
          <a:p>
            <a:r>
              <a:rPr lang="en-US" sz="1200" dirty="0">
                <a:solidFill>
                  <a:schemeClr val="bg1"/>
                </a:solidFill>
                <a:latin typeface="Courier New" panose="02070309020205020404" pitchFamily="49" charset="0"/>
                <a:cs typeface="Courier New" panose="02070309020205020404" pitchFamily="49" charset="0"/>
              </a:rPr>
              <a:t>    Show text documentation on something.  &lt;name&gt; may be the name of a</a:t>
            </a:r>
          </a:p>
          <a:p>
            <a:r>
              <a:rPr lang="en-US" sz="1200" dirty="0">
                <a:solidFill>
                  <a:schemeClr val="bg1"/>
                </a:solidFill>
                <a:latin typeface="Courier New" panose="02070309020205020404" pitchFamily="49" charset="0"/>
                <a:cs typeface="Courier New" panose="02070309020205020404" pitchFamily="49" charset="0"/>
              </a:rPr>
              <a:t>    Python keyword, topic, function, module, or package, or a dotted</a:t>
            </a:r>
          </a:p>
          <a:p>
            <a:r>
              <a:rPr lang="en-US" sz="1200" dirty="0">
                <a:solidFill>
                  <a:schemeClr val="bg1"/>
                </a:solidFill>
                <a:latin typeface="Courier New" panose="02070309020205020404" pitchFamily="49" charset="0"/>
                <a:cs typeface="Courier New" panose="02070309020205020404" pitchFamily="49" charset="0"/>
              </a:rPr>
              <a:t>    reference to a class or function within a module or module in a</a:t>
            </a:r>
          </a:p>
          <a:p>
            <a:r>
              <a:rPr lang="en-US" sz="1200" dirty="0">
                <a:solidFill>
                  <a:schemeClr val="bg1"/>
                </a:solidFill>
                <a:latin typeface="Courier New" panose="02070309020205020404" pitchFamily="49" charset="0"/>
                <a:cs typeface="Courier New" panose="02070309020205020404" pitchFamily="49" charset="0"/>
              </a:rPr>
              <a:t>    package.  If &lt;name&gt; contains a '/', it is used as the path to a</a:t>
            </a:r>
          </a:p>
          <a:p>
            <a:r>
              <a:rPr lang="en-US" sz="1200" dirty="0">
                <a:solidFill>
                  <a:schemeClr val="bg1"/>
                </a:solidFill>
                <a:latin typeface="Courier New" panose="02070309020205020404" pitchFamily="49" charset="0"/>
                <a:cs typeface="Courier New" panose="02070309020205020404" pitchFamily="49" charset="0"/>
              </a:rPr>
              <a:t>    Python source file to document. If name is 'keywords', 'topics',</a:t>
            </a:r>
          </a:p>
          <a:p>
            <a:r>
              <a:rPr lang="en-US" sz="1200" dirty="0">
                <a:solidFill>
                  <a:schemeClr val="bg1"/>
                </a:solidFill>
                <a:latin typeface="Courier New" panose="02070309020205020404" pitchFamily="49" charset="0"/>
                <a:cs typeface="Courier New" panose="02070309020205020404" pitchFamily="49" charset="0"/>
              </a:rPr>
              <a:t>    or 'modules', a listing of these things is displayed.</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-k &lt;keyword&gt;</a:t>
            </a:r>
          </a:p>
          <a:p>
            <a:r>
              <a:rPr lang="en-US" sz="1200" dirty="0">
                <a:solidFill>
                  <a:schemeClr val="bg1"/>
                </a:solidFill>
                <a:latin typeface="Courier New" panose="02070309020205020404" pitchFamily="49" charset="0"/>
                <a:cs typeface="Courier New" panose="02070309020205020404" pitchFamily="49" charset="0"/>
              </a:rPr>
              <a:t>    Search for a keyword in the synopsis lines of all available modules.</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-n &lt;hostname&gt;</a:t>
            </a:r>
          </a:p>
          <a:p>
            <a:r>
              <a:rPr lang="en-US" sz="1200" dirty="0">
                <a:solidFill>
                  <a:schemeClr val="bg1"/>
                </a:solidFill>
                <a:latin typeface="Courier New" panose="02070309020205020404" pitchFamily="49" charset="0"/>
                <a:cs typeface="Courier New" panose="02070309020205020404" pitchFamily="49" charset="0"/>
              </a:rPr>
              <a:t>    Start an HTTP server with the given hostname (default: localhost).</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-p &lt;port&gt;</a:t>
            </a:r>
          </a:p>
          <a:p>
            <a:r>
              <a:rPr lang="en-US" sz="1200" dirty="0">
                <a:solidFill>
                  <a:schemeClr val="bg1"/>
                </a:solidFill>
                <a:latin typeface="Courier New" panose="02070309020205020404" pitchFamily="49" charset="0"/>
                <a:cs typeface="Courier New" panose="02070309020205020404" pitchFamily="49" charset="0"/>
              </a:rPr>
              <a:t>    Start an HTTP server on the given port on the local machine.  Port</a:t>
            </a:r>
          </a:p>
          <a:p>
            <a:r>
              <a:rPr lang="en-US" sz="1200" dirty="0">
                <a:solidFill>
                  <a:schemeClr val="bg1"/>
                </a:solidFill>
                <a:latin typeface="Courier New" panose="02070309020205020404" pitchFamily="49" charset="0"/>
                <a:cs typeface="Courier New" panose="02070309020205020404" pitchFamily="49" charset="0"/>
              </a:rPr>
              <a:t>    number 0 can be used to get an arbitrary unused port.</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-b</a:t>
            </a:r>
          </a:p>
          <a:p>
            <a:r>
              <a:rPr lang="en-US" sz="1200" dirty="0">
                <a:solidFill>
                  <a:schemeClr val="bg1"/>
                </a:solidFill>
                <a:latin typeface="Courier New" panose="02070309020205020404" pitchFamily="49" charset="0"/>
                <a:cs typeface="Courier New" panose="02070309020205020404" pitchFamily="49" charset="0"/>
              </a:rPr>
              <a:t>    Start an HTTP server on an arbitrary unused port and open a web browser</a:t>
            </a:r>
          </a:p>
          <a:p>
            <a:r>
              <a:rPr lang="en-US" sz="1200" dirty="0">
                <a:solidFill>
                  <a:schemeClr val="bg1"/>
                </a:solidFill>
                <a:latin typeface="Courier New" panose="02070309020205020404" pitchFamily="49" charset="0"/>
                <a:cs typeface="Courier New" panose="02070309020205020404" pitchFamily="49" charset="0"/>
              </a:rPr>
              <a:t>    to interactively browse documentation.  This option can be used in</a:t>
            </a:r>
          </a:p>
          <a:p>
            <a:r>
              <a:rPr lang="en-US" sz="1200" dirty="0">
                <a:solidFill>
                  <a:schemeClr val="bg1"/>
                </a:solidFill>
                <a:latin typeface="Courier New" panose="02070309020205020404" pitchFamily="49" charset="0"/>
                <a:cs typeface="Courier New" panose="02070309020205020404" pitchFamily="49" charset="0"/>
              </a:rPr>
              <a:t>    combination with -n and/or -p.</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-w &lt;name&gt; ...</a:t>
            </a:r>
          </a:p>
          <a:p>
            <a:r>
              <a:rPr lang="en-US" sz="1200" dirty="0">
                <a:solidFill>
                  <a:schemeClr val="bg1"/>
                </a:solidFill>
                <a:latin typeface="Courier New" panose="02070309020205020404" pitchFamily="49" charset="0"/>
                <a:cs typeface="Courier New" panose="02070309020205020404" pitchFamily="49" charset="0"/>
              </a:rPr>
              <a:t>    Write out the HTML documentation for a module to a file in the current</a:t>
            </a:r>
          </a:p>
          <a:p>
            <a:r>
              <a:rPr lang="en-US" sz="1200" dirty="0">
                <a:solidFill>
                  <a:schemeClr val="bg1"/>
                </a:solidFill>
                <a:latin typeface="Courier New" panose="02070309020205020404" pitchFamily="49" charset="0"/>
                <a:cs typeface="Courier New" panose="02070309020205020404" pitchFamily="49" charset="0"/>
              </a:rPr>
              <a:t>    directory.  If &lt;name&gt; contains a '/', it is treated as a filename; if</a:t>
            </a:r>
          </a:p>
          <a:p>
            <a:r>
              <a:rPr lang="en-US" sz="1200" dirty="0">
                <a:solidFill>
                  <a:schemeClr val="bg1"/>
                </a:solidFill>
                <a:latin typeface="Courier New" panose="02070309020205020404" pitchFamily="49" charset="0"/>
                <a:cs typeface="Courier New" panose="02070309020205020404" pitchFamily="49" charset="0"/>
              </a:rPr>
              <a:t>    it names a directory, documentation is written for all the contents.</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25</a:t>
            </a:fld>
            <a:endParaRPr lang="en-US" dirty="0"/>
          </a:p>
        </p:txBody>
      </p:sp>
    </p:spTree>
    <p:extLst>
      <p:ext uri="{BB962C8B-B14F-4D97-AF65-F5344CB8AC3E}">
        <p14:creationId xmlns:p14="http://schemas.microsoft.com/office/powerpoint/2010/main" val="21210079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bg1"/>
                </a:solidFill>
                <a:latin typeface="Courier New" panose="02070309020205020404" pitchFamily="49" charset="0"/>
                <a:cs typeface="Courier New" panose="02070309020205020404" pitchFamily="49" charset="0"/>
              </a:rPr>
              <a:t>❯ python -m </a:t>
            </a:r>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--help</a:t>
            </a: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 the Python documentation tool</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&lt;name&gt; ...</a:t>
            </a:r>
          </a:p>
          <a:p>
            <a:r>
              <a:rPr lang="en-US" sz="1200" dirty="0">
                <a:solidFill>
                  <a:schemeClr val="bg1"/>
                </a:solidFill>
                <a:latin typeface="Courier New" panose="02070309020205020404" pitchFamily="49" charset="0"/>
                <a:cs typeface="Courier New" panose="02070309020205020404" pitchFamily="49" charset="0"/>
              </a:rPr>
              <a:t>    Show text documentation on something.  &lt;name&gt; may be the name of a</a:t>
            </a:r>
          </a:p>
          <a:p>
            <a:r>
              <a:rPr lang="en-US" sz="1200" dirty="0">
                <a:solidFill>
                  <a:schemeClr val="bg1"/>
                </a:solidFill>
                <a:latin typeface="Courier New" panose="02070309020205020404" pitchFamily="49" charset="0"/>
                <a:cs typeface="Courier New" panose="02070309020205020404" pitchFamily="49" charset="0"/>
              </a:rPr>
              <a:t>    Python keyword, topic, function, module, or package, or a dotted</a:t>
            </a:r>
          </a:p>
          <a:p>
            <a:r>
              <a:rPr lang="en-US" sz="1200" dirty="0">
                <a:solidFill>
                  <a:schemeClr val="bg1"/>
                </a:solidFill>
                <a:latin typeface="Courier New" panose="02070309020205020404" pitchFamily="49" charset="0"/>
                <a:cs typeface="Courier New" panose="02070309020205020404" pitchFamily="49" charset="0"/>
              </a:rPr>
              <a:t>    reference to a class or function within a module or module in a</a:t>
            </a:r>
          </a:p>
          <a:p>
            <a:r>
              <a:rPr lang="en-US" sz="1200" dirty="0">
                <a:solidFill>
                  <a:schemeClr val="bg1"/>
                </a:solidFill>
                <a:latin typeface="Courier New" panose="02070309020205020404" pitchFamily="49" charset="0"/>
                <a:cs typeface="Courier New" panose="02070309020205020404" pitchFamily="49" charset="0"/>
              </a:rPr>
              <a:t>    package.  If &lt;name&gt; contains a '/', it is used as the path to a</a:t>
            </a:r>
          </a:p>
          <a:p>
            <a:r>
              <a:rPr lang="en-US" sz="1200" dirty="0">
                <a:solidFill>
                  <a:schemeClr val="bg1"/>
                </a:solidFill>
                <a:latin typeface="Courier New" panose="02070309020205020404" pitchFamily="49" charset="0"/>
                <a:cs typeface="Courier New" panose="02070309020205020404" pitchFamily="49" charset="0"/>
              </a:rPr>
              <a:t>    Python source file to document. If name is 'keywords', 'topics',</a:t>
            </a:r>
          </a:p>
          <a:p>
            <a:r>
              <a:rPr lang="en-US" sz="1200" dirty="0">
                <a:solidFill>
                  <a:schemeClr val="bg1"/>
                </a:solidFill>
                <a:latin typeface="Courier New" panose="02070309020205020404" pitchFamily="49" charset="0"/>
                <a:cs typeface="Courier New" panose="02070309020205020404" pitchFamily="49" charset="0"/>
              </a:rPr>
              <a:t>    or 'modules', a listing of these things is displayed.</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-k &lt;keyword&gt;</a:t>
            </a:r>
          </a:p>
          <a:p>
            <a:r>
              <a:rPr lang="en-US" sz="1200" dirty="0">
                <a:solidFill>
                  <a:schemeClr val="bg1"/>
                </a:solidFill>
                <a:latin typeface="Courier New" panose="02070309020205020404" pitchFamily="49" charset="0"/>
                <a:cs typeface="Courier New" panose="02070309020205020404" pitchFamily="49" charset="0"/>
              </a:rPr>
              <a:t>    Search for a keyword in the synopsis lines of all available modules.</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-n &lt;hostname&gt;</a:t>
            </a:r>
          </a:p>
          <a:p>
            <a:r>
              <a:rPr lang="en-US" sz="1200" dirty="0">
                <a:solidFill>
                  <a:schemeClr val="bg1"/>
                </a:solidFill>
                <a:latin typeface="Courier New" panose="02070309020205020404" pitchFamily="49" charset="0"/>
                <a:cs typeface="Courier New" panose="02070309020205020404" pitchFamily="49" charset="0"/>
              </a:rPr>
              <a:t>    Start an HTTP server with the given hostname (default: localhost).</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-p &lt;port&gt;</a:t>
            </a:r>
          </a:p>
          <a:p>
            <a:r>
              <a:rPr lang="en-US" sz="1200" dirty="0">
                <a:solidFill>
                  <a:schemeClr val="bg1"/>
                </a:solidFill>
                <a:latin typeface="Courier New" panose="02070309020205020404" pitchFamily="49" charset="0"/>
                <a:cs typeface="Courier New" panose="02070309020205020404" pitchFamily="49" charset="0"/>
              </a:rPr>
              <a:t>    Start an HTTP server on the given port on the local machine.  Port</a:t>
            </a:r>
          </a:p>
          <a:p>
            <a:r>
              <a:rPr lang="en-US" sz="1200" dirty="0">
                <a:solidFill>
                  <a:schemeClr val="bg1"/>
                </a:solidFill>
                <a:latin typeface="Courier New" panose="02070309020205020404" pitchFamily="49" charset="0"/>
                <a:cs typeface="Courier New" panose="02070309020205020404" pitchFamily="49" charset="0"/>
              </a:rPr>
              <a:t>    number 0 can be used to get an arbitrary unused port.</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-b</a:t>
            </a:r>
          </a:p>
          <a:p>
            <a:r>
              <a:rPr lang="en-US" sz="1200" dirty="0">
                <a:solidFill>
                  <a:schemeClr val="bg1"/>
                </a:solidFill>
                <a:latin typeface="Courier New" panose="02070309020205020404" pitchFamily="49" charset="0"/>
                <a:cs typeface="Courier New" panose="02070309020205020404" pitchFamily="49" charset="0"/>
              </a:rPr>
              <a:t>    Start an HTTP server on an arbitrary unused port and open a web browser</a:t>
            </a:r>
          </a:p>
          <a:p>
            <a:r>
              <a:rPr lang="en-US" sz="1200" dirty="0">
                <a:solidFill>
                  <a:schemeClr val="bg1"/>
                </a:solidFill>
                <a:latin typeface="Courier New" panose="02070309020205020404" pitchFamily="49" charset="0"/>
                <a:cs typeface="Courier New" panose="02070309020205020404" pitchFamily="49" charset="0"/>
              </a:rPr>
              <a:t>    to interactively browse documentation.  This option can be used in</a:t>
            </a:r>
          </a:p>
          <a:p>
            <a:r>
              <a:rPr lang="en-US" sz="1200" dirty="0">
                <a:solidFill>
                  <a:schemeClr val="bg1"/>
                </a:solidFill>
                <a:latin typeface="Courier New" panose="02070309020205020404" pitchFamily="49" charset="0"/>
                <a:cs typeface="Courier New" panose="02070309020205020404" pitchFamily="49" charset="0"/>
              </a:rPr>
              <a:t>    combination with -n and/or -p.</a:t>
            </a:r>
          </a:p>
          <a:p>
            <a:endParaRPr lang="en-US" sz="1200" dirty="0">
              <a:solidFill>
                <a:schemeClr val="bg1"/>
              </a:solidFill>
              <a:latin typeface="Courier New" panose="02070309020205020404" pitchFamily="49" charset="0"/>
              <a:cs typeface="Courier New" panose="02070309020205020404" pitchFamily="49" charset="0"/>
            </a:endParaRPr>
          </a:p>
          <a:p>
            <a:r>
              <a:rPr lang="en-US" sz="1200" dirty="0" err="1">
                <a:solidFill>
                  <a:schemeClr val="bg1"/>
                </a:solidFill>
                <a:latin typeface="Courier New" panose="02070309020205020404" pitchFamily="49" charset="0"/>
                <a:cs typeface="Courier New" panose="02070309020205020404" pitchFamily="49" charset="0"/>
              </a:rPr>
              <a:t>pydoc</a:t>
            </a:r>
            <a:r>
              <a:rPr lang="en-US" sz="1200" dirty="0">
                <a:solidFill>
                  <a:schemeClr val="bg1"/>
                </a:solidFill>
                <a:latin typeface="Courier New" panose="02070309020205020404" pitchFamily="49" charset="0"/>
                <a:cs typeface="Courier New" panose="02070309020205020404" pitchFamily="49" charset="0"/>
              </a:rPr>
              <a:t> -w &lt;name&gt; ...</a:t>
            </a:r>
          </a:p>
          <a:p>
            <a:r>
              <a:rPr lang="en-US" sz="1200" dirty="0">
                <a:solidFill>
                  <a:schemeClr val="bg1"/>
                </a:solidFill>
                <a:latin typeface="Courier New" panose="02070309020205020404" pitchFamily="49" charset="0"/>
                <a:cs typeface="Courier New" panose="02070309020205020404" pitchFamily="49" charset="0"/>
              </a:rPr>
              <a:t>    Write out the HTML documentation for a module to a file in the current</a:t>
            </a:r>
          </a:p>
          <a:p>
            <a:r>
              <a:rPr lang="en-US" sz="1200" dirty="0">
                <a:solidFill>
                  <a:schemeClr val="bg1"/>
                </a:solidFill>
                <a:latin typeface="Courier New" panose="02070309020205020404" pitchFamily="49" charset="0"/>
                <a:cs typeface="Courier New" panose="02070309020205020404" pitchFamily="49" charset="0"/>
              </a:rPr>
              <a:t>    directory.  If &lt;name&gt; contains a '/', it is treated as a filename; if</a:t>
            </a:r>
          </a:p>
          <a:p>
            <a:r>
              <a:rPr lang="en-US" sz="1200" dirty="0">
                <a:solidFill>
                  <a:schemeClr val="bg1"/>
                </a:solidFill>
                <a:latin typeface="Courier New" panose="02070309020205020404" pitchFamily="49" charset="0"/>
                <a:cs typeface="Courier New" panose="02070309020205020404" pitchFamily="49" charset="0"/>
              </a:rPr>
              <a:t>    it names a directory, documentation is written for all the contents.</a:t>
            </a: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26</a:t>
            </a:fld>
            <a:endParaRPr lang="en-US" dirty="0"/>
          </a:p>
        </p:txBody>
      </p:sp>
    </p:spTree>
    <p:extLst>
      <p:ext uri="{BB962C8B-B14F-4D97-AF65-F5344CB8AC3E}">
        <p14:creationId xmlns:p14="http://schemas.microsoft.com/office/powerpoint/2010/main" val="2942979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docuemntation.py</a:t>
            </a:r>
            <a:endParaRPr lang="en-AU" dirty="0"/>
          </a:p>
        </p:txBody>
      </p:sp>
      <p:sp>
        <p:nvSpPr>
          <p:cNvPr id="4" name="Slide Number Placeholder 3"/>
          <p:cNvSpPr>
            <a:spLocks noGrp="1"/>
          </p:cNvSpPr>
          <p:nvPr>
            <p:ph type="sldNum" sz="quarter" idx="5"/>
          </p:nvPr>
        </p:nvSpPr>
        <p:spPr/>
        <p:txBody>
          <a:bodyPr/>
          <a:lstStyle/>
          <a:p>
            <a:fld id="{BA3E024E-F835-6D45-89C3-0E2F93EE799A}" type="slidenum">
              <a:rPr lang="en-US" smtClean="0"/>
              <a:t>27</a:t>
            </a:fld>
            <a:endParaRPr lang="en-US" dirty="0"/>
          </a:p>
        </p:txBody>
      </p:sp>
    </p:spTree>
    <p:extLst>
      <p:ext uri="{BB962C8B-B14F-4D97-AF65-F5344CB8AC3E}">
        <p14:creationId xmlns:p14="http://schemas.microsoft.com/office/powerpoint/2010/main" val="20893393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29</a:t>
            </a:fld>
            <a:endParaRPr lang="en-US" dirty="0"/>
          </a:p>
        </p:txBody>
      </p:sp>
    </p:spTree>
    <p:extLst>
      <p:ext uri="{BB962C8B-B14F-4D97-AF65-F5344CB8AC3E}">
        <p14:creationId xmlns:p14="http://schemas.microsoft.com/office/powerpoint/2010/main" val="21378327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7A0B5-EEDC-F411-5952-5AC31E23A5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372AB-2ECC-0D4B-44D9-492DDCEC20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952A04-4385-7112-8143-173673461D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EA8AC9-FDEC-D152-E30B-13E96C4B530F}"/>
              </a:ext>
            </a:extLst>
          </p:cNvPr>
          <p:cNvSpPr>
            <a:spLocks noGrp="1"/>
          </p:cNvSpPr>
          <p:nvPr>
            <p:ph type="sldNum" sz="quarter" idx="5"/>
          </p:nvPr>
        </p:nvSpPr>
        <p:spPr/>
        <p:txBody>
          <a:bodyPr/>
          <a:lstStyle/>
          <a:p>
            <a:fld id="{BA3E024E-F835-6D45-89C3-0E2F93EE799A}" type="slidenum">
              <a:rPr lang="en-US" smtClean="0"/>
              <a:t>30</a:t>
            </a:fld>
            <a:endParaRPr lang="en-US" dirty="0"/>
          </a:p>
        </p:txBody>
      </p:sp>
    </p:spTree>
    <p:extLst>
      <p:ext uri="{BB962C8B-B14F-4D97-AF65-F5344CB8AC3E}">
        <p14:creationId xmlns:p14="http://schemas.microsoft.com/office/powerpoint/2010/main" val="26014172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Notes: </a:t>
            </a:r>
          </a:p>
          <a:p>
            <a:pPr algn="l"/>
            <a:r>
              <a:rPr lang="en-US" dirty="0"/>
              <a:t>Review before activities</a:t>
            </a:r>
          </a:p>
          <a:p>
            <a:pPr marL="171450" indent="-171450" algn="l">
              <a:buFont typeface="Arial" panose="020B0604020202020204" pitchFamily="34" charset="0"/>
              <a:buChar char="•"/>
            </a:pPr>
            <a:r>
              <a:rPr lang="en-US" dirty="0"/>
              <a:t>documentation in class code examples</a:t>
            </a:r>
          </a:p>
          <a:p>
            <a:pPr marL="171450" indent="-171450" algn="l">
              <a:buFont typeface="Arial" panose="020B0604020202020204" pitchFamily="34" charset="0"/>
              <a:buChar char="•"/>
            </a:pPr>
            <a:r>
              <a:rPr lang="en-US" dirty="0"/>
              <a:t>completed Sphinx examples &amp; code</a:t>
            </a:r>
          </a:p>
          <a:p>
            <a:pPr marL="171450" indent="-171450" algn="l">
              <a:buFont typeface="Arial" panose="020B0604020202020204" pitchFamily="34" charset="0"/>
              <a:buChar char="•"/>
            </a:pPr>
            <a:endParaRPr lang="en-US" b="1" i="0" dirty="0">
              <a:effectLst/>
              <a:latin typeface="Söhne"/>
            </a:endParaRPr>
          </a:p>
          <a:p>
            <a:pPr marL="0" indent="0" algn="l">
              <a:buFont typeface="Arial" panose="020B0604020202020204" pitchFamily="34" charset="0"/>
              <a:buNone/>
            </a:pPr>
            <a:r>
              <a:rPr lang="en-AU" b="1" i="0" dirty="0">
                <a:effectLst/>
                <a:latin typeface="Söhne"/>
              </a:rPr>
              <a:t>Similarities Between Markdown and RST</a:t>
            </a:r>
          </a:p>
          <a:p>
            <a:pPr algn="l"/>
            <a:endParaRPr lang="en-AU" b="1" i="0" dirty="0">
              <a:effectLst/>
              <a:latin typeface="Söhne"/>
            </a:endParaRPr>
          </a:p>
          <a:p>
            <a:pPr algn="l">
              <a:buFont typeface="+mj-lt"/>
              <a:buAutoNum type="arabicPeriod"/>
            </a:pPr>
            <a:r>
              <a:rPr lang="en-AU" b="1" i="0" dirty="0">
                <a:solidFill>
                  <a:srgbClr val="D1D5DB"/>
                </a:solidFill>
                <a:effectLst/>
                <a:latin typeface="Söhne"/>
              </a:rPr>
              <a:t>Purpose</a:t>
            </a:r>
            <a:r>
              <a:rPr lang="en-AU" b="0" i="0" dirty="0">
                <a:solidFill>
                  <a:srgbClr val="D1D5DB"/>
                </a:solidFill>
                <a:effectLst/>
                <a:latin typeface="Söhne"/>
              </a:rPr>
              <a:t>: Both are lightweight markup languages designed to be easily read and written by humans. They are often used for documentation, readme files, and web content.</a:t>
            </a:r>
          </a:p>
          <a:p>
            <a:pPr algn="l">
              <a:buFont typeface="+mj-lt"/>
              <a:buAutoNum type="arabicPeriod"/>
            </a:pPr>
            <a:r>
              <a:rPr lang="en-AU" b="1" i="0" dirty="0">
                <a:solidFill>
                  <a:srgbClr val="D1D5DB"/>
                </a:solidFill>
                <a:effectLst/>
                <a:latin typeface="Söhne"/>
              </a:rPr>
              <a:t>Headings</a:t>
            </a:r>
            <a:r>
              <a:rPr lang="en-AU" b="0" i="0" dirty="0">
                <a:solidFill>
                  <a:srgbClr val="D1D5DB"/>
                </a:solidFill>
                <a:effectLst/>
                <a:latin typeface="Söhne"/>
              </a:rPr>
              <a:t>: Both provide ways to denote hierarchical section headings.</a:t>
            </a:r>
          </a:p>
          <a:p>
            <a:pPr algn="l">
              <a:buFont typeface="+mj-lt"/>
              <a:buAutoNum type="arabicPeriod"/>
            </a:pPr>
            <a:r>
              <a:rPr lang="en-AU" b="1" i="0" dirty="0">
                <a:solidFill>
                  <a:srgbClr val="D1D5DB"/>
                </a:solidFill>
                <a:effectLst/>
                <a:latin typeface="Söhne"/>
              </a:rPr>
              <a:t>Lists</a:t>
            </a:r>
            <a:r>
              <a:rPr lang="en-AU" b="0" i="0" dirty="0">
                <a:solidFill>
                  <a:srgbClr val="D1D5DB"/>
                </a:solidFill>
                <a:effectLst/>
                <a:latin typeface="Söhne"/>
              </a:rPr>
              <a:t>: Both support creating ordered (numbered) and unordered (bullet point) lists.</a:t>
            </a:r>
          </a:p>
          <a:p>
            <a:pPr algn="l">
              <a:buFont typeface="+mj-lt"/>
              <a:buAutoNum type="arabicPeriod"/>
            </a:pPr>
            <a:r>
              <a:rPr lang="en-AU" b="1" i="0" dirty="0">
                <a:solidFill>
                  <a:srgbClr val="D1D5DB"/>
                </a:solidFill>
                <a:effectLst/>
                <a:latin typeface="Söhne"/>
              </a:rPr>
              <a:t>Code Blocks</a:t>
            </a:r>
            <a:r>
              <a:rPr lang="en-AU" b="0" i="0" dirty="0">
                <a:solidFill>
                  <a:srgbClr val="D1D5DB"/>
                </a:solidFill>
                <a:effectLst/>
                <a:latin typeface="Söhne"/>
              </a:rPr>
              <a:t>: Both allow for demarcating sections of code, though the methods differ.</a:t>
            </a:r>
          </a:p>
          <a:p>
            <a:pPr algn="l">
              <a:buFont typeface="+mj-lt"/>
              <a:buAutoNum type="arabicPeriod"/>
            </a:pPr>
            <a:r>
              <a:rPr lang="en-AU" b="1" i="0" dirty="0">
                <a:solidFill>
                  <a:srgbClr val="D1D5DB"/>
                </a:solidFill>
                <a:effectLst/>
                <a:latin typeface="Söhne"/>
              </a:rPr>
              <a:t>Hyperlinks</a:t>
            </a:r>
            <a:r>
              <a:rPr lang="en-AU" b="0" i="0" dirty="0">
                <a:solidFill>
                  <a:srgbClr val="D1D5DB"/>
                </a:solidFill>
                <a:effectLst/>
                <a:latin typeface="Söhne"/>
              </a:rPr>
              <a:t>: Both allow for creating hyperlinks, though the syntax and capabilities vary.</a:t>
            </a:r>
          </a:p>
          <a:p>
            <a:pPr algn="l">
              <a:buFont typeface="+mj-lt"/>
              <a:buAutoNum type="arabicPeriod"/>
            </a:pPr>
            <a:endParaRPr lang="en-AU" b="0" i="0" dirty="0">
              <a:solidFill>
                <a:srgbClr val="D1D5DB"/>
              </a:solidFill>
              <a:effectLst/>
              <a:latin typeface="Söhne"/>
            </a:endParaRPr>
          </a:p>
          <a:p>
            <a:pPr algn="l">
              <a:buFont typeface="+mj-lt"/>
              <a:buAutoNum type="arabicPeriod"/>
            </a:pPr>
            <a:endParaRPr lang="en-AU" b="0" i="0" dirty="0">
              <a:solidFill>
                <a:srgbClr val="D1D5DB"/>
              </a:solidFill>
              <a:effectLst/>
              <a:latin typeface="Söhne"/>
            </a:endParaRPr>
          </a:p>
          <a:p>
            <a:pPr algn="l">
              <a:buFont typeface="+mj-lt"/>
              <a:buAutoNum type="arabicPeriod"/>
            </a:pPr>
            <a:endParaRPr lang="en-AU" b="0" i="0" dirty="0">
              <a:solidFill>
                <a:srgbClr val="D1D5DB"/>
              </a:solidFill>
              <a:effectLst/>
              <a:latin typeface="Söhne"/>
            </a:endParaRPr>
          </a:p>
          <a:p>
            <a:pPr algn="l"/>
            <a:r>
              <a:rPr lang="en-AU" b="1" i="0" dirty="0">
                <a:effectLst/>
                <a:latin typeface="Söhne"/>
              </a:rPr>
              <a:t>Differences Between Markdown and RST</a:t>
            </a:r>
          </a:p>
          <a:p>
            <a:pPr algn="l"/>
            <a:endParaRPr lang="en-AU" b="1" i="0" dirty="0">
              <a:effectLst/>
              <a:latin typeface="Söhne"/>
            </a:endParaRPr>
          </a:p>
          <a:p>
            <a:pPr algn="l">
              <a:buFont typeface="+mj-lt"/>
              <a:buAutoNum type="arabicPeriod"/>
            </a:pPr>
            <a:r>
              <a:rPr lang="en-AU" b="1" i="0" dirty="0">
                <a:solidFill>
                  <a:srgbClr val="D1D5DB"/>
                </a:solidFill>
                <a:effectLst/>
                <a:latin typeface="Söhne"/>
              </a:rPr>
              <a:t>Syntax</a:t>
            </a:r>
            <a:r>
              <a:rPr lang="en-AU" b="0" i="0" dirty="0">
                <a:solidFill>
                  <a:srgbClr val="D1D5DB"/>
                </a:solidFill>
                <a:effectLst/>
                <a:latin typeface="Söhne"/>
              </a:rPr>
              <a:t>: While they share some similarities, the syntax for many elements in RST is more explicit. For instance, headings in RST are demarcated by repeated characters above and/or below the text, while Markdown uses a number of # characters at the start of the line.</a:t>
            </a:r>
          </a:p>
          <a:p>
            <a:pPr algn="l">
              <a:buFont typeface="+mj-lt"/>
              <a:buAutoNum type="arabicPeriod"/>
            </a:pPr>
            <a:r>
              <a:rPr lang="en-AU" b="1" i="0" dirty="0">
                <a:solidFill>
                  <a:srgbClr val="D1D5DB"/>
                </a:solidFill>
                <a:effectLst/>
                <a:latin typeface="Söhne"/>
              </a:rPr>
              <a:t>Extensibility</a:t>
            </a:r>
            <a:r>
              <a:rPr lang="en-AU" b="0" i="0" dirty="0">
                <a:solidFill>
                  <a:srgbClr val="D1D5DB"/>
                </a:solidFill>
                <a:effectLst/>
                <a:latin typeface="Söhne"/>
              </a:rPr>
              <a:t>: RST was designed with extensibility in mind. It supports custom roles and directives, which allow users to define custom semantics and processing behaviours. Markdown, in its standard form, does not have this level of extensibility.</a:t>
            </a:r>
          </a:p>
          <a:p>
            <a:pPr algn="l">
              <a:buFont typeface="+mj-lt"/>
              <a:buAutoNum type="arabicPeriod"/>
            </a:pPr>
            <a:r>
              <a:rPr lang="en-AU" b="1" i="0" dirty="0">
                <a:solidFill>
                  <a:srgbClr val="D1D5DB"/>
                </a:solidFill>
                <a:effectLst/>
                <a:latin typeface="Söhne"/>
              </a:rPr>
              <a:t>Footnotes &amp; Citations</a:t>
            </a:r>
            <a:r>
              <a:rPr lang="en-AU" b="0" i="0" dirty="0">
                <a:solidFill>
                  <a:srgbClr val="D1D5DB"/>
                </a:solidFill>
                <a:effectLst/>
                <a:latin typeface="Söhne"/>
              </a:rPr>
              <a:t>: RST has built-in support for footnotes, citations, and even more complex structures like tables of content. Standard Markdown does not have native support for these, though some flavours'/extensions do.</a:t>
            </a:r>
          </a:p>
          <a:p>
            <a:pPr algn="l">
              <a:buFont typeface="+mj-lt"/>
              <a:buAutoNum type="arabicPeriod"/>
            </a:pPr>
            <a:r>
              <a:rPr lang="en-AU" b="1" i="0" dirty="0">
                <a:solidFill>
                  <a:srgbClr val="D1D5DB"/>
                </a:solidFill>
                <a:effectLst/>
                <a:latin typeface="Söhne"/>
              </a:rPr>
              <a:t>Roles and Directives</a:t>
            </a:r>
            <a:r>
              <a:rPr lang="en-AU" b="0" i="0" dirty="0">
                <a:solidFill>
                  <a:srgbClr val="D1D5DB"/>
                </a:solidFill>
                <a:effectLst/>
                <a:latin typeface="Söhne"/>
              </a:rPr>
              <a:t>: Unique to RST, roles and directives are powerful extensibility mechanisms. Roles are used for semantic markup, and directives are block-level elements with arguments and content.</a:t>
            </a:r>
          </a:p>
          <a:p>
            <a:pPr algn="l"/>
            <a:r>
              <a:rPr lang="en-AU" b="1" i="0" dirty="0">
                <a:solidFill>
                  <a:srgbClr val="D1D5DB"/>
                </a:solidFill>
                <a:effectLst/>
                <a:latin typeface="Söhne"/>
              </a:rPr>
              <a:t>Target Audience</a:t>
            </a:r>
            <a:r>
              <a:rPr lang="en-AU" b="0" i="0" dirty="0">
                <a:solidFill>
                  <a:srgbClr val="D1D5DB"/>
                </a:solidFill>
                <a:effectLst/>
                <a:latin typeface="Söhne"/>
              </a:rPr>
              <a:t>: Markdown was originally developed for web writers. Its goal was simplicity and easy conversion to HTML. RST, on the other hand, was created for the Python documentation and provides richer features for technical documentation.</a:t>
            </a:r>
            <a:br>
              <a:rPr lang="en-AU" b="0" i="0" dirty="0">
                <a:solidFill>
                  <a:srgbClr val="D1D5DB"/>
                </a:solidFill>
                <a:effectLst/>
                <a:latin typeface="Söhne"/>
              </a:rPr>
            </a:br>
            <a:br>
              <a:rPr lang="en-AU" b="0" i="0" dirty="0">
                <a:solidFill>
                  <a:srgbClr val="D1D5DB"/>
                </a:solidFill>
                <a:effectLst/>
                <a:latin typeface="Söhne"/>
              </a:rPr>
            </a:br>
            <a:br>
              <a:rPr lang="en-AU" b="0" i="0" dirty="0">
                <a:solidFill>
                  <a:srgbClr val="D1D5DB"/>
                </a:solidFill>
                <a:effectLst/>
                <a:latin typeface="Söhne"/>
              </a:rPr>
            </a:br>
            <a:r>
              <a:rPr lang="en-AU" b="1" i="0" dirty="0" err="1">
                <a:effectLst/>
                <a:latin typeface="Söhne"/>
              </a:rPr>
              <a:t>MyST</a:t>
            </a:r>
            <a:r>
              <a:rPr lang="en-AU" b="1" i="0" dirty="0">
                <a:effectLst/>
                <a:latin typeface="Söhne"/>
              </a:rPr>
              <a:t>: The Bridge Between Markdown and RST</a:t>
            </a:r>
          </a:p>
          <a:p>
            <a:pPr algn="l"/>
            <a:endParaRPr lang="en-AU" b="1" i="0" dirty="0">
              <a:effectLst/>
              <a:latin typeface="Söhne"/>
            </a:endParaRPr>
          </a:p>
          <a:p>
            <a:pPr algn="l"/>
            <a:r>
              <a:rPr lang="en-AU" b="1" i="0" dirty="0" err="1">
                <a:solidFill>
                  <a:srgbClr val="D1D5DB"/>
                </a:solidFill>
                <a:effectLst/>
                <a:latin typeface="Söhne"/>
              </a:rPr>
              <a:t>MyST</a:t>
            </a:r>
            <a:r>
              <a:rPr lang="en-AU" b="0" i="0" dirty="0">
                <a:solidFill>
                  <a:srgbClr val="D1D5DB"/>
                </a:solidFill>
                <a:effectLst/>
                <a:latin typeface="Söhne"/>
              </a:rPr>
              <a:t> stands for </a:t>
            </a:r>
            <a:r>
              <a:rPr lang="en-AU" b="1" i="0" dirty="0">
                <a:solidFill>
                  <a:srgbClr val="D1D5DB"/>
                </a:solidFill>
                <a:effectLst/>
                <a:latin typeface="Söhne"/>
              </a:rPr>
              <a:t>Markedly Structured Text</a:t>
            </a:r>
            <a:r>
              <a:rPr lang="en-AU" b="0" i="0" dirty="0">
                <a:solidFill>
                  <a:srgbClr val="D1D5DB"/>
                </a:solidFill>
                <a:effectLst/>
                <a:latin typeface="Söhne"/>
              </a:rPr>
              <a:t>. It is essentially an extension of the Markdown syntax to include some of the powerful features of </a:t>
            </a:r>
            <a:r>
              <a:rPr lang="en-AU" b="0" i="0" dirty="0" err="1">
                <a:solidFill>
                  <a:srgbClr val="D1D5DB"/>
                </a:solidFill>
                <a:effectLst/>
                <a:latin typeface="Söhne"/>
              </a:rPr>
              <a:t>reStructuredText</a:t>
            </a:r>
            <a:r>
              <a:rPr lang="en-AU" b="0" i="0" dirty="0">
                <a:solidFill>
                  <a:srgbClr val="D1D5DB"/>
                </a:solidFill>
                <a:effectLst/>
                <a:latin typeface="Söhne"/>
              </a:rPr>
              <a:t> (RST). </a:t>
            </a:r>
            <a:r>
              <a:rPr lang="en-AU" b="0" i="0" dirty="0" err="1">
                <a:solidFill>
                  <a:srgbClr val="D1D5DB"/>
                </a:solidFill>
                <a:effectLst/>
                <a:latin typeface="Söhne"/>
              </a:rPr>
              <a:t>MyST</a:t>
            </a:r>
            <a:r>
              <a:rPr lang="en-AU" b="0" i="0" dirty="0">
                <a:solidFill>
                  <a:srgbClr val="D1D5DB"/>
                </a:solidFill>
                <a:effectLst/>
                <a:latin typeface="Söhne"/>
              </a:rPr>
              <a:t> was created to provide a solution to a common problem: many people like Markdown's simplicity but often need the extensibility and features of RST.</a:t>
            </a:r>
          </a:p>
          <a:p>
            <a:pPr algn="l"/>
            <a:endParaRPr lang="en-AU" b="0" i="0" dirty="0">
              <a:effectLst/>
              <a:latin typeface="Söhne"/>
            </a:endParaRPr>
          </a:p>
          <a:p>
            <a:pPr algn="l"/>
            <a:r>
              <a:rPr lang="en-AU" b="0" i="0" dirty="0">
                <a:effectLst/>
                <a:latin typeface="Söhne"/>
              </a:rPr>
              <a:t>Key Features:</a:t>
            </a:r>
          </a:p>
          <a:p>
            <a:pPr algn="l"/>
            <a:endParaRPr lang="en-AU" b="0" i="0" dirty="0">
              <a:effectLst/>
              <a:latin typeface="Söhne"/>
            </a:endParaRPr>
          </a:p>
          <a:p>
            <a:pPr algn="l">
              <a:buFont typeface="+mj-lt"/>
              <a:buAutoNum type="arabicPeriod"/>
            </a:pPr>
            <a:r>
              <a:rPr lang="en-AU" b="1" i="0" dirty="0">
                <a:solidFill>
                  <a:srgbClr val="D1D5DB"/>
                </a:solidFill>
                <a:effectLst/>
                <a:latin typeface="Söhne"/>
              </a:rPr>
              <a:t>RST-like Directives and Roles</a:t>
            </a:r>
            <a:r>
              <a:rPr lang="en-AU" b="0" i="0" dirty="0">
                <a:solidFill>
                  <a:srgbClr val="D1D5DB"/>
                </a:solidFill>
                <a:effectLst/>
                <a:latin typeface="Söhne"/>
              </a:rPr>
              <a:t>: </a:t>
            </a:r>
            <a:r>
              <a:rPr lang="en-AU" b="0" i="0" dirty="0" err="1">
                <a:solidFill>
                  <a:srgbClr val="D1D5DB"/>
                </a:solidFill>
                <a:effectLst/>
                <a:latin typeface="Söhne"/>
              </a:rPr>
              <a:t>MyST</a:t>
            </a:r>
            <a:r>
              <a:rPr lang="en-AU" b="0" i="0" dirty="0">
                <a:solidFill>
                  <a:srgbClr val="D1D5DB"/>
                </a:solidFill>
                <a:effectLst/>
                <a:latin typeface="Söhne"/>
              </a:rPr>
              <a:t> allows the use of RST-like directives and roles directly in Markdown documents. This means you can use functionalities like tables of contents, figures, notes, and more in a Markdown file.</a:t>
            </a:r>
          </a:p>
          <a:p>
            <a:pPr algn="l">
              <a:buFont typeface="+mj-lt"/>
              <a:buAutoNum type="arabicPeriod"/>
            </a:pPr>
            <a:r>
              <a:rPr lang="en-AU" b="1" i="0" dirty="0">
                <a:solidFill>
                  <a:srgbClr val="D1D5DB"/>
                </a:solidFill>
                <a:effectLst/>
                <a:latin typeface="Söhne"/>
              </a:rPr>
              <a:t>Extensibility</a:t>
            </a:r>
            <a:r>
              <a:rPr lang="en-AU" b="0" i="0" dirty="0">
                <a:solidFill>
                  <a:srgbClr val="D1D5DB"/>
                </a:solidFill>
                <a:effectLst/>
                <a:latin typeface="Söhne"/>
              </a:rPr>
              <a:t>: Similar to RST, you can also define custom roles and directives in </a:t>
            </a:r>
            <a:r>
              <a:rPr lang="en-AU" b="0" i="0" dirty="0" err="1">
                <a:solidFill>
                  <a:srgbClr val="D1D5DB"/>
                </a:solidFill>
                <a:effectLst/>
                <a:latin typeface="Söhne"/>
              </a:rPr>
              <a:t>MyST</a:t>
            </a:r>
            <a:r>
              <a:rPr lang="en-AU" b="0" i="0" dirty="0">
                <a:solidFill>
                  <a:srgbClr val="D1D5DB"/>
                </a:solidFill>
                <a:effectLst/>
                <a:latin typeface="Söhne"/>
              </a:rPr>
              <a:t>.</a:t>
            </a:r>
          </a:p>
          <a:p>
            <a:pPr algn="l">
              <a:buFont typeface="+mj-lt"/>
              <a:buAutoNum type="arabicPeriod"/>
            </a:pPr>
            <a:r>
              <a:rPr lang="en-AU" b="1" i="0" dirty="0">
                <a:solidFill>
                  <a:srgbClr val="D1D5DB"/>
                </a:solidFill>
                <a:effectLst/>
                <a:latin typeface="Söhne"/>
              </a:rPr>
              <a:t>Math Support</a:t>
            </a:r>
            <a:r>
              <a:rPr lang="en-AU" b="0" i="0" dirty="0">
                <a:solidFill>
                  <a:srgbClr val="D1D5DB"/>
                </a:solidFill>
                <a:effectLst/>
                <a:latin typeface="Söhne"/>
              </a:rPr>
              <a:t>: With </a:t>
            </a:r>
            <a:r>
              <a:rPr lang="en-AU" b="0" i="0" dirty="0" err="1">
                <a:solidFill>
                  <a:srgbClr val="D1D5DB"/>
                </a:solidFill>
                <a:effectLst/>
                <a:latin typeface="Söhne"/>
              </a:rPr>
              <a:t>MyST</a:t>
            </a:r>
            <a:r>
              <a:rPr lang="en-AU" b="0" i="0" dirty="0">
                <a:solidFill>
                  <a:srgbClr val="D1D5DB"/>
                </a:solidFill>
                <a:effectLst/>
                <a:latin typeface="Söhne"/>
              </a:rPr>
              <a:t>, you can use LaTeX-like math syntax which will be familiar to many academic and scientific writers.</a:t>
            </a:r>
          </a:p>
          <a:p>
            <a:pPr algn="l">
              <a:buFont typeface="+mj-lt"/>
              <a:buAutoNum type="arabicPeriod"/>
            </a:pPr>
            <a:r>
              <a:rPr lang="en-AU" b="1" i="0" dirty="0">
                <a:solidFill>
                  <a:srgbClr val="D1D5DB"/>
                </a:solidFill>
                <a:effectLst/>
                <a:latin typeface="Söhne"/>
              </a:rPr>
              <a:t>Footnotes &amp; Citations</a:t>
            </a:r>
            <a:r>
              <a:rPr lang="en-AU" b="0" i="0" dirty="0">
                <a:solidFill>
                  <a:srgbClr val="D1D5DB"/>
                </a:solidFill>
                <a:effectLst/>
                <a:latin typeface="Söhne"/>
              </a:rPr>
              <a:t>: Just like RST, </a:t>
            </a:r>
            <a:r>
              <a:rPr lang="en-AU" b="0" i="0" dirty="0" err="1">
                <a:solidFill>
                  <a:srgbClr val="D1D5DB"/>
                </a:solidFill>
                <a:effectLst/>
                <a:latin typeface="Söhne"/>
              </a:rPr>
              <a:t>MyST</a:t>
            </a:r>
            <a:r>
              <a:rPr lang="en-AU" b="0" i="0" dirty="0">
                <a:solidFill>
                  <a:srgbClr val="D1D5DB"/>
                </a:solidFill>
                <a:effectLst/>
                <a:latin typeface="Söhne"/>
              </a:rPr>
              <a:t> has robust support for footnotes and citations.</a:t>
            </a:r>
          </a:p>
          <a:p>
            <a:pPr algn="l">
              <a:buFont typeface="+mj-lt"/>
              <a:buAutoNum type="arabicPeriod"/>
            </a:pPr>
            <a:r>
              <a:rPr lang="en-AU" b="1" i="0" dirty="0">
                <a:solidFill>
                  <a:srgbClr val="D1D5DB"/>
                </a:solidFill>
                <a:effectLst/>
                <a:latin typeface="Söhne"/>
              </a:rPr>
              <a:t>Compatible with Sphinx</a:t>
            </a:r>
            <a:r>
              <a:rPr lang="en-AU" b="0" i="0" dirty="0">
                <a:solidFill>
                  <a:srgbClr val="D1D5DB"/>
                </a:solidFill>
                <a:effectLst/>
                <a:latin typeface="Söhne"/>
              </a:rPr>
              <a:t>: One of the most significant advantages of </a:t>
            </a:r>
            <a:r>
              <a:rPr lang="en-AU" b="0" i="0" dirty="0" err="1">
                <a:solidFill>
                  <a:srgbClr val="D1D5DB"/>
                </a:solidFill>
                <a:effectLst/>
                <a:latin typeface="Söhne"/>
              </a:rPr>
              <a:t>MyST</a:t>
            </a:r>
            <a:r>
              <a:rPr lang="en-AU" b="0" i="0" dirty="0">
                <a:solidFill>
                  <a:srgbClr val="D1D5DB"/>
                </a:solidFill>
                <a:effectLst/>
                <a:latin typeface="Söhne"/>
              </a:rPr>
              <a:t> is its compatibility with Sphinx, a popular documentation generator. With the </a:t>
            </a:r>
            <a:r>
              <a:rPr lang="en-AU" b="0" i="0" dirty="0" err="1">
                <a:solidFill>
                  <a:srgbClr val="D1D5DB"/>
                </a:solidFill>
                <a:effectLst/>
                <a:latin typeface="Söhne"/>
              </a:rPr>
              <a:t>myst</a:t>
            </a:r>
            <a:r>
              <a:rPr lang="en-AU" b="0" i="0" dirty="0">
                <a:solidFill>
                  <a:srgbClr val="D1D5DB"/>
                </a:solidFill>
                <a:effectLst/>
                <a:latin typeface="Söhne"/>
              </a:rPr>
              <a:t>-parser Sphinx extension, you can write your entire Sphinx documentation in </a:t>
            </a:r>
            <a:r>
              <a:rPr lang="en-AU" b="0" i="0" dirty="0" err="1">
                <a:solidFill>
                  <a:srgbClr val="D1D5DB"/>
                </a:solidFill>
                <a:effectLst/>
                <a:latin typeface="Söhne"/>
              </a:rPr>
              <a:t>MyST</a:t>
            </a:r>
            <a:r>
              <a:rPr lang="en-AU" b="0" i="0" dirty="0">
                <a:solidFill>
                  <a:srgbClr val="D1D5DB"/>
                </a:solidFill>
                <a:effectLst/>
                <a:latin typeface="Söhne"/>
              </a:rPr>
              <a:t>-compatible Markdown, benefiting from the tooling and extensibility that Sphinx offers without delving into RST.</a:t>
            </a:r>
          </a:p>
          <a:p>
            <a:pPr algn="l"/>
            <a:endParaRPr lang="en-AU" b="0" i="0" dirty="0">
              <a:effectLst/>
              <a:latin typeface="Söhne"/>
            </a:endParaRPr>
          </a:p>
          <a:p>
            <a:pPr algn="l"/>
            <a:r>
              <a:rPr lang="en-AU" b="0" i="0" dirty="0">
                <a:effectLst/>
                <a:latin typeface="Söhne"/>
              </a:rPr>
              <a:t>Why is </a:t>
            </a:r>
            <a:r>
              <a:rPr lang="en-AU" b="0" i="0" dirty="0" err="1">
                <a:effectLst/>
                <a:latin typeface="Söhne"/>
              </a:rPr>
              <a:t>MyST</a:t>
            </a:r>
            <a:r>
              <a:rPr lang="en-AU" b="0" i="0" dirty="0">
                <a:effectLst/>
                <a:latin typeface="Söhne"/>
              </a:rPr>
              <a:t> Important?</a:t>
            </a:r>
          </a:p>
          <a:p>
            <a:pPr algn="l"/>
            <a:endParaRPr lang="en-AU" b="0" i="0" dirty="0">
              <a:effectLst/>
              <a:latin typeface="Söhne"/>
            </a:endParaRPr>
          </a:p>
          <a:p>
            <a:pPr algn="l">
              <a:buFont typeface="+mj-lt"/>
              <a:buAutoNum type="arabicPeriod"/>
            </a:pPr>
            <a:r>
              <a:rPr lang="en-AU" b="1" i="0" dirty="0">
                <a:solidFill>
                  <a:srgbClr val="D1D5DB"/>
                </a:solidFill>
                <a:effectLst/>
                <a:latin typeface="Söhne"/>
              </a:rPr>
              <a:t>Wider Adoption</a:t>
            </a:r>
            <a:r>
              <a:rPr lang="en-AU" b="0" i="0" dirty="0">
                <a:solidFill>
                  <a:srgbClr val="D1D5DB"/>
                </a:solidFill>
                <a:effectLst/>
                <a:latin typeface="Söhne"/>
              </a:rPr>
              <a:t>: By combining the simplicity of Markdown with the power of RST, </a:t>
            </a:r>
            <a:r>
              <a:rPr lang="en-AU" b="0" i="0" dirty="0" err="1">
                <a:solidFill>
                  <a:srgbClr val="D1D5DB"/>
                </a:solidFill>
                <a:effectLst/>
                <a:latin typeface="Söhne"/>
              </a:rPr>
              <a:t>MyST</a:t>
            </a:r>
            <a:r>
              <a:rPr lang="en-AU" b="0" i="0" dirty="0">
                <a:solidFill>
                  <a:srgbClr val="D1D5DB"/>
                </a:solidFill>
                <a:effectLst/>
                <a:latin typeface="Söhne"/>
              </a:rPr>
              <a:t> has the potential to appeal to a broader audience, allowing more people to create rich documentation without the steep learning curve of RST.</a:t>
            </a:r>
          </a:p>
          <a:p>
            <a:pPr algn="l">
              <a:buFont typeface="+mj-lt"/>
              <a:buAutoNum type="arabicPeriod"/>
            </a:pPr>
            <a:r>
              <a:rPr lang="en-AU" b="1" i="0" dirty="0">
                <a:solidFill>
                  <a:srgbClr val="D1D5DB"/>
                </a:solidFill>
                <a:effectLst/>
                <a:latin typeface="Söhne"/>
              </a:rPr>
              <a:t>Unified Ecosystem</a:t>
            </a:r>
            <a:r>
              <a:rPr lang="en-AU" b="0" i="0" dirty="0">
                <a:solidFill>
                  <a:srgbClr val="D1D5DB"/>
                </a:solidFill>
                <a:effectLst/>
                <a:latin typeface="Söhne"/>
              </a:rPr>
              <a:t>: Tools like </a:t>
            </a:r>
            <a:r>
              <a:rPr lang="en-AU" b="0" i="0" dirty="0" err="1">
                <a:solidFill>
                  <a:srgbClr val="D1D5DB"/>
                </a:solidFill>
                <a:effectLst/>
                <a:latin typeface="Söhne"/>
              </a:rPr>
              <a:t>Jupyter</a:t>
            </a:r>
            <a:r>
              <a:rPr lang="en-AU" b="0" i="0" dirty="0">
                <a:solidFill>
                  <a:srgbClr val="D1D5DB"/>
                </a:solidFill>
                <a:effectLst/>
                <a:latin typeface="Söhne"/>
              </a:rPr>
              <a:t> Book use </a:t>
            </a:r>
            <a:r>
              <a:rPr lang="en-AU" b="0" i="0" dirty="0" err="1">
                <a:solidFill>
                  <a:srgbClr val="D1D5DB"/>
                </a:solidFill>
                <a:effectLst/>
                <a:latin typeface="Söhne"/>
              </a:rPr>
              <a:t>MyST</a:t>
            </a:r>
            <a:r>
              <a:rPr lang="en-AU" b="0" i="0" dirty="0">
                <a:solidFill>
                  <a:srgbClr val="D1D5DB"/>
                </a:solidFill>
                <a:effectLst/>
                <a:latin typeface="Söhne"/>
              </a:rPr>
              <a:t> as their underlying markup language, enabling richer content in </a:t>
            </a:r>
            <a:r>
              <a:rPr lang="en-AU" b="0" i="0" dirty="0" err="1">
                <a:solidFill>
                  <a:srgbClr val="D1D5DB"/>
                </a:solidFill>
                <a:effectLst/>
                <a:latin typeface="Söhne"/>
              </a:rPr>
              <a:t>Jupyter</a:t>
            </a:r>
            <a:r>
              <a:rPr lang="en-AU" b="0" i="0" dirty="0">
                <a:solidFill>
                  <a:srgbClr val="D1D5DB"/>
                </a:solidFill>
                <a:effectLst/>
                <a:latin typeface="Söhne"/>
              </a:rPr>
              <a:t> notebooks and bridging the gap between the interactive computing and documentation worlds.</a:t>
            </a:r>
          </a:p>
          <a:p>
            <a:pPr algn="l">
              <a:buFont typeface="+mj-lt"/>
              <a:buAutoNum type="arabicPeriod"/>
            </a:pPr>
            <a:endParaRPr lang="en-AU" b="0" i="0" dirty="0">
              <a:solidFill>
                <a:srgbClr val="D1D5DB"/>
              </a:solidFill>
              <a:effectLst/>
              <a:latin typeface="Söhne"/>
            </a:endParaRPr>
          </a:p>
          <a:p>
            <a:endParaRPr lang="en-US" dirty="0"/>
          </a:p>
        </p:txBody>
      </p:sp>
      <p:sp>
        <p:nvSpPr>
          <p:cNvPr id="4" name="Slide Number Placeholder 3"/>
          <p:cNvSpPr>
            <a:spLocks noGrp="1"/>
          </p:cNvSpPr>
          <p:nvPr>
            <p:ph type="sldNum" sz="quarter" idx="5"/>
          </p:nvPr>
        </p:nvSpPr>
        <p:spPr/>
        <p:txBody>
          <a:bodyPr/>
          <a:lstStyle/>
          <a:p>
            <a:fld id="{BA3E024E-F835-6D45-89C3-0E2F93EE799A}" type="slidenum">
              <a:rPr lang="en-US" smtClean="0"/>
              <a:t>34</a:t>
            </a:fld>
            <a:endParaRPr lang="en-US" dirty="0"/>
          </a:p>
        </p:txBody>
      </p:sp>
    </p:spTree>
    <p:extLst>
      <p:ext uri="{BB962C8B-B14F-4D97-AF65-F5344CB8AC3E}">
        <p14:creationId xmlns:p14="http://schemas.microsoft.com/office/powerpoint/2010/main" val="8419339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1" name="Rounded Rectangle 10"/>
          <p:cNvSpPr/>
          <p:nvPr userDrawn="1"/>
        </p:nvSpPr>
        <p:spPr>
          <a:xfrm>
            <a:off x="920424" y="691642"/>
            <a:ext cx="10360351" cy="5616575"/>
          </a:xfrm>
          <a:prstGeom prst="roundRect">
            <a:avLst>
              <a:gd name="adj" fmla="val 766"/>
            </a:avLst>
          </a:prstGeom>
          <a:solidFill>
            <a:srgbClr val="D81C24">
              <a:alpha val="14902"/>
            </a:srgbClr>
          </a:solidFill>
          <a:ln>
            <a:solidFill>
              <a:srgbClr val="D8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600">
              <a:latin typeface="+mj-lt"/>
            </a:endParaRPr>
          </a:p>
        </p:txBody>
      </p:sp>
      <p:sp>
        <p:nvSpPr>
          <p:cNvPr id="4" name="Date Placeholder 3"/>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2" name="Title 1"/>
          <p:cNvSpPr>
            <a:spLocks noGrp="1"/>
          </p:cNvSpPr>
          <p:nvPr>
            <p:ph type="ctrTitle" hasCustomPrompt="1"/>
          </p:nvPr>
        </p:nvSpPr>
        <p:spPr>
          <a:xfrm>
            <a:off x="1051133" y="1293778"/>
            <a:ext cx="10084038" cy="1396829"/>
          </a:xfrm>
          <a:prstGeom prst="rect">
            <a:avLst/>
          </a:prstGeom>
          <a:noFill/>
        </p:spPr>
        <p:txBody>
          <a:bodyPr anchor="t"/>
          <a:lstStyle>
            <a:lvl1pPr>
              <a:defRPr>
                <a:solidFill>
                  <a:schemeClr val="bg1">
                    <a:lumMod val="95000"/>
                  </a:schemeClr>
                </a:solidFill>
                <a:latin typeface="+mj-lt"/>
              </a:defRPr>
            </a:lvl1pPr>
          </a:lstStyle>
          <a:p>
            <a:r>
              <a:rPr lang="en-AU" noProof="0" dirty="0"/>
              <a:t>Session/Presentation Title</a:t>
            </a:r>
          </a:p>
        </p:txBody>
      </p:sp>
      <p:sp>
        <p:nvSpPr>
          <p:cNvPr id="10" name="Table Placeholder 9"/>
          <p:cNvSpPr>
            <a:spLocks noGrp="1"/>
          </p:cNvSpPr>
          <p:nvPr>
            <p:ph type="tbl" sz="quarter" idx="13" hasCustomPrompt="1"/>
          </p:nvPr>
        </p:nvSpPr>
        <p:spPr>
          <a:xfrm>
            <a:off x="1051131" y="4732016"/>
            <a:ext cx="10084039" cy="1450021"/>
          </a:xfrm>
          <a:noFill/>
        </p:spPr>
        <p:txBody>
          <a:bodyPr anchor="t">
            <a:normAutofit/>
          </a:bodyPr>
          <a:lstStyle>
            <a:lvl1pPr marL="0" indent="0">
              <a:buNone/>
              <a:defRPr sz="1400" baseline="0">
                <a:solidFill>
                  <a:schemeClr val="bg1">
                    <a:lumMod val="75000"/>
                  </a:schemeClr>
                </a:solidFill>
                <a:latin typeface="+mj-lt"/>
              </a:defRPr>
            </a:lvl1pPr>
          </a:lstStyle>
          <a:p>
            <a:r>
              <a:rPr lang="en-AU" dirty="0"/>
              <a:t>Replace this with a table of units – 2 columns – National ID and Title</a:t>
            </a:r>
          </a:p>
        </p:txBody>
      </p:sp>
      <p:sp>
        <p:nvSpPr>
          <p:cNvPr id="12" name="Text Placeholder 11"/>
          <p:cNvSpPr>
            <a:spLocks noGrp="1"/>
          </p:cNvSpPr>
          <p:nvPr>
            <p:ph type="body" sz="quarter" idx="14" hasCustomPrompt="1"/>
          </p:nvPr>
        </p:nvSpPr>
        <p:spPr>
          <a:xfrm>
            <a:off x="1051132" y="819761"/>
            <a:ext cx="10084039" cy="341659"/>
          </a:xfrm>
          <a:noFill/>
        </p:spPr>
        <p:txBody>
          <a:bodyPr anchor="ctr">
            <a:noAutofit/>
          </a:bodyPr>
          <a:lstStyle>
            <a:lvl1pPr marL="0" indent="0" algn="l">
              <a:buNone/>
              <a:defRPr sz="1800" baseline="0">
                <a:solidFill>
                  <a:schemeClr val="bg1">
                    <a:lumMod val="75000"/>
                  </a:schemeClr>
                </a:solidFill>
                <a:latin typeface="+mj-lt"/>
              </a:defRPr>
            </a:lvl1pPr>
          </a:lstStyle>
          <a:p>
            <a:pPr lvl="0"/>
            <a:r>
              <a:rPr lang="en-AU" dirty="0"/>
              <a:t>Week/Session 00</a:t>
            </a:r>
          </a:p>
        </p:txBody>
      </p:sp>
      <p:sp>
        <p:nvSpPr>
          <p:cNvPr id="8" name="Text Placeholder 7"/>
          <p:cNvSpPr>
            <a:spLocks noGrp="1"/>
          </p:cNvSpPr>
          <p:nvPr>
            <p:ph type="body" sz="quarter" idx="15" hasCustomPrompt="1"/>
          </p:nvPr>
        </p:nvSpPr>
        <p:spPr>
          <a:xfrm>
            <a:off x="1051130" y="4211303"/>
            <a:ext cx="10084038" cy="428986"/>
          </a:xfrm>
          <a:noFill/>
        </p:spPr>
        <p:txBody>
          <a:bodyPr vert="horz" lIns="91440" tIns="45720" rIns="91440" bIns="4572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AU" sz="1600" b="0" dirty="0">
                <a:solidFill>
                  <a:schemeClr val="bg1">
                    <a:lumMod val="95000"/>
                  </a:schemeClr>
                </a:solidFill>
                <a:latin typeface="+mj-l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noProof="0" dirty="0"/>
              <a:t>Cluster Name</a:t>
            </a:r>
            <a:endParaRPr lang="en-AU" dirty="0"/>
          </a:p>
        </p:txBody>
      </p:sp>
      <p:sp>
        <p:nvSpPr>
          <p:cNvPr id="9" name="TextBox 8"/>
          <p:cNvSpPr txBox="1"/>
          <p:nvPr userDrawn="1"/>
        </p:nvSpPr>
        <p:spPr>
          <a:xfrm>
            <a:off x="1051132" y="2852738"/>
            <a:ext cx="1871530" cy="572303"/>
          </a:xfrm>
          <a:prstGeom prst="rect">
            <a:avLst/>
          </a:prstGeom>
          <a:noFill/>
        </p:spPr>
        <p:txBody>
          <a:bodyPr vert="horz" lIns="91440" tIns="45720" rIns="91440" bIns="45720" rtlCol="0" anchor="ctr">
            <a:noAutofit/>
          </a:bodyPr>
          <a:lstStyle>
            <a:lvl1pPr indent="0">
              <a:spcBef>
                <a:spcPct val="20000"/>
              </a:spcBef>
              <a:buFont typeface="Arial"/>
              <a:buNone/>
              <a:defRPr sz="2800" baseline="0">
                <a:solidFill>
                  <a:schemeClr val="bg1">
                    <a:lumMod val="75000"/>
                  </a:schemeClr>
                </a:solidFill>
              </a:defRPr>
            </a:lvl1pPr>
            <a:lvl2pPr indent="0" algn="ctr">
              <a:spcBef>
                <a:spcPct val="20000"/>
              </a:spcBef>
              <a:buFont typeface="Arial"/>
              <a:buNone/>
              <a:defRPr sz="2800" baseline="0">
                <a:solidFill>
                  <a:schemeClr val="tx1">
                    <a:tint val="75000"/>
                  </a:schemeClr>
                </a:solidFill>
              </a:defRPr>
            </a:lvl2pPr>
            <a:lvl3pPr indent="0" algn="ctr">
              <a:spcBef>
                <a:spcPct val="20000"/>
              </a:spcBef>
              <a:buFont typeface="Arial"/>
              <a:buNone/>
              <a:defRPr sz="2400" baseline="0">
                <a:solidFill>
                  <a:schemeClr val="tx1">
                    <a:tint val="75000"/>
                  </a:schemeClr>
                </a:solidFill>
              </a:defRPr>
            </a:lvl3pPr>
            <a:lvl4pPr indent="0" algn="ctr">
              <a:spcBef>
                <a:spcPct val="20000"/>
              </a:spcBef>
              <a:buFont typeface="Arial"/>
              <a:buNone/>
              <a:defRPr sz="2000" baseline="0">
                <a:solidFill>
                  <a:schemeClr val="tx1">
                    <a:tint val="75000"/>
                  </a:schemeClr>
                </a:solidFill>
              </a:defRPr>
            </a:lvl4pPr>
            <a:lvl5pPr indent="0" algn="ctr">
              <a:spcBef>
                <a:spcPct val="20000"/>
              </a:spcBef>
              <a:buFont typeface="Arial"/>
              <a:buNone/>
              <a:defRPr sz="2000" baseline="0">
                <a:solidFill>
                  <a:schemeClr val="tx1">
                    <a:tint val="75000"/>
                  </a:schemeClr>
                </a:solidFill>
              </a:defRPr>
            </a:lvl5pPr>
            <a:lvl6pPr indent="0" algn="ctr">
              <a:spcBef>
                <a:spcPct val="20000"/>
              </a:spcBef>
              <a:buFont typeface="Arial"/>
              <a:buNone/>
              <a:defRPr sz="2000">
                <a:solidFill>
                  <a:schemeClr val="tx1">
                    <a:tint val="75000"/>
                  </a:schemeClr>
                </a:solidFill>
              </a:defRPr>
            </a:lvl6pPr>
            <a:lvl7pPr indent="0" algn="ctr">
              <a:spcBef>
                <a:spcPct val="20000"/>
              </a:spcBef>
              <a:buFont typeface="Arial"/>
              <a:buNone/>
              <a:defRPr sz="2000">
                <a:solidFill>
                  <a:schemeClr val="tx1">
                    <a:tint val="75000"/>
                  </a:schemeClr>
                </a:solidFill>
              </a:defRPr>
            </a:lvl7pPr>
            <a:lvl8pPr indent="0" algn="ctr">
              <a:spcBef>
                <a:spcPct val="20000"/>
              </a:spcBef>
              <a:buFont typeface="Arial"/>
              <a:buNone/>
              <a:defRPr sz="2000">
                <a:solidFill>
                  <a:schemeClr val="tx1">
                    <a:tint val="75000"/>
                  </a:schemeClr>
                </a:solidFill>
              </a:defRPr>
            </a:lvl8pPr>
            <a:lvl9pPr indent="0" algn="ctr">
              <a:spcBef>
                <a:spcPct val="20000"/>
              </a:spcBef>
              <a:buFont typeface="Arial"/>
              <a:buNone/>
              <a:defRPr sz="2000">
                <a:solidFill>
                  <a:schemeClr val="tx1">
                    <a:tint val="75000"/>
                  </a:schemeClr>
                </a:solidFill>
              </a:defRPr>
            </a:lvl9pPr>
          </a:lstStyle>
          <a:p>
            <a:pPr lvl="0"/>
            <a:r>
              <a:rPr lang="en-AU" sz="2000" dirty="0">
                <a:solidFill>
                  <a:schemeClr val="bg1">
                    <a:lumMod val="75000"/>
                  </a:schemeClr>
                </a:solidFill>
                <a:latin typeface="+mj-lt"/>
              </a:rPr>
              <a:t>Presented by:</a:t>
            </a:r>
          </a:p>
        </p:txBody>
      </p:sp>
      <p:sp>
        <p:nvSpPr>
          <p:cNvPr id="17" name="Text Placeholder 16"/>
          <p:cNvSpPr>
            <a:spLocks noGrp="1"/>
          </p:cNvSpPr>
          <p:nvPr>
            <p:ph type="body" sz="quarter" idx="16" hasCustomPrompt="1"/>
          </p:nvPr>
        </p:nvSpPr>
        <p:spPr>
          <a:xfrm>
            <a:off x="2991027" y="2862841"/>
            <a:ext cx="8144143" cy="56220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2800">
                <a:solidFill>
                  <a:schemeClr val="bg1">
                    <a:lumMod val="75000"/>
                  </a:schemeClr>
                </a:solidFill>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noProof="0" dirty="0">
                <a:solidFill>
                  <a:schemeClr val="bg1">
                    <a:lumMod val="95000"/>
                  </a:schemeClr>
                </a:solidFill>
              </a:rPr>
              <a:t>Given &amp; Last Name</a:t>
            </a:r>
          </a:p>
        </p:txBody>
      </p:sp>
      <p:sp>
        <p:nvSpPr>
          <p:cNvPr id="19" name="Content Placeholder 18"/>
          <p:cNvSpPr>
            <a:spLocks noGrp="1"/>
          </p:cNvSpPr>
          <p:nvPr>
            <p:ph sz="quarter" idx="17" hasCustomPrompt="1"/>
          </p:nvPr>
        </p:nvSpPr>
        <p:spPr>
          <a:xfrm>
            <a:off x="1050925" y="3516767"/>
            <a:ext cx="10083800" cy="602809"/>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lang="en-AU" sz="2000" dirty="0" smtClean="0">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dirty="0">
                <a:solidFill>
                  <a:schemeClr val="bg1">
                    <a:lumMod val="85000"/>
                  </a:schemeClr>
                </a:solidFill>
              </a:rPr>
              <a:t>Course ID and Title</a:t>
            </a:r>
          </a:p>
        </p:txBody>
      </p:sp>
    </p:spTree>
    <p:extLst>
      <p:ext uri="{BB962C8B-B14F-4D97-AF65-F5344CB8AC3E}">
        <p14:creationId xmlns:p14="http://schemas.microsoft.com/office/powerpoint/2010/main" val="41900696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574" userDrawn="1">
          <p15:clr>
            <a:srgbClr val="FBAE40"/>
          </p15:clr>
        </p15:guide>
        <p15:guide id="4" pos="7106" userDrawn="1">
          <p15:clr>
            <a:srgbClr val="FBAE40"/>
          </p15:clr>
        </p15:guide>
        <p15:guide id="5" orient="horz" pos="436" userDrawn="1">
          <p15:clr>
            <a:srgbClr val="FBAE40"/>
          </p15:clr>
        </p15:guide>
        <p15:guide id="6" orient="horz" pos="3974" userDrawn="1">
          <p15:clr>
            <a:srgbClr val="FBAE40"/>
          </p15:clr>
        </p15:guide>
        <p15:guide id="7" orient="horz" pos="179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noProof="0" dirty="0"/>
              <a:t>Week/Session 00 – Presentation Title</a:t>
            </a:r>
          </a:p>
        </p:txBody>
      </p:sp>
      <p:sp>
        <p:nvSpPr>
          <p:cNvPr id="4" name="Date Placeholder 3"/>
          <p:cNvSpPr>
            <a:spLocks noGrp="1"/>
          </p:cNvSpPr>
          <p:nvPr>
            <p:ph type="dt" sz="half" idx="10"/>
          </p:nvPr>
        </p:nvSpPr>
        <p:spPr/>
        <p:txBody>
          <a:bodyPr/>
          <a:lstStyle/>
          <a:p>
            <a:fld id="{56F489C6-6277-454E-AECF-6C3872A9450F}" type="datetimeFigureOut">
              <a:rPr lang="en-AU" noProof="0" smtClean="0"/>
              <a:t>2/09/2025</a:t>
            </a:fld>
            <a:endParaRPr lang="en-AU" noProof="0"/>
          </a:p>
        </p:txBody>
      </p:sp>
      <p:sp>
        <p:nvSpPr>
          <p:cNvPr id="5" name="Footer Placeholder 4"/>
          <p:cNvSpPr>
            <a:spLocks noGrp="1"/>
          </p:cNvSpPr>
          <p:nvPr>
            <p:ph type="ftr" sz="quarter" idx="11"/>
          </p:nvPr>
        </p:nvSpPr>
        <p:spPr/>
        <p:txBody>
          <a:bodyPr/>
          <a:lstStyle/>
          <a:p>
            <a:endParaRPr lang="en-AU" noProof="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a:p>
        </p:txBody>
      </p:sp>
    </p:spTree>
    <p:extLst>
      <p:ext uri="{BB962C8B-B14F-4D97-AF65-F5344CB8AC3E}">
        <p14:creationId xmlns:p14="http://schemas.microsoft.com/office/powerpoint/2010/main" val="1471725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629109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a:xfrm>
            <a:off x="609600" y="1794618"/>
            <a:ext cx="10972800" cy="219169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8176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1354379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Click to 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470644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814302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63058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98958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710508"/>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
        <p:nvSpPr>
          <p:cNvPr id="6" name="Title 1"/>
          <p:cNvSpPr>
            <a:spLocks noGrp="1"/>
          </p:cNvSpPr>
          <p:nvPr>
            <p:ph type="title"/>
          </p:nvPr>
        </p:nvSpPr>
        <p:spPr>
          <a:xfrm>
            <a:off x="609600" y="5755274"/>
            <a:ext cx="10972800" cy="527831"/>
          </a:xfrm>
          <a:prstGeom prst="rect">
            <a:avLst/>
          </a:prstGeom>
        </p:spPr>
        <p:txBody>
          <a:bodyPr anchor="b">
            <a:normAutofit/>
          </a:bodyPr>
          <a:lstStyle>
            <a:lvl1pPr algn="l">
              <a:defRPr sz="1800" b="1"/>
            </a:lvl1pPr>
          </a:lstStyle>
          <a:p>
            <a:r>
              <a:rPr lang="en-US" noProof="0"/>
              <a:t>Click to edit Master title style</a:t>
            </a:r>
            <a:endParaRPr lang="en-AU" noProof="0"/>
          </a:p>
        </p:txBody>
      </p:sp>
    </p:spTree>
    <p:extLst>
      <p:ext uri="{BB962C8B-B14F-4D97-AF65-F5344CB8AC3E}">
        <p14:creationId xmlns:p14="http://schemas.microsoft.com/office/powerpoint/2010/main" val="3182468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253685" y="672443"/>
            <a:ext cx="3328716" cy="5395071"/>
          </a:xfrm>
          <a:prstGeom prst="roundRect">
            <a:avLst>
              <a:gd name="adj" fmla="val 4147"/>
            </a:avLst>
          </a:prstGeom>
          <a:blipFill>
            <a:blip r:embed="rId2">
              <a:alphaModFix/>
            </a:blip>
            <a:stretch>
              <a:fillRect l="16" r="16"/>
            </a:stretch>
          </a:blipFill>
        </p:spPr>
        <p:txBody>
          <a:bodyPr/>
          <a:lstStyle>
            <a:lvl1pPr marL="0" indent="0">
              <a:buNone/>
              <a:defRPr/>
            </a:lvl1pPr>
          </a:lstStyle>
          <a:p>
            <a:r>
              <a:rPr lang="en-US" dirty="0"/>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39600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76053"/>
            <a:ext cx="6207659" cy="382380"/>
          </a:xfrm>
          <a:prstGeom prst="rect">
            <a:avLst/>
          </a:prstGeom>
        </p:spPr>
        <p:txBody>
          <a:bodyPr anchor="t"/>
          <a:lstStyle>
            <a:lvl1pPr algn="l">
              <a:defRPr sz="1800" b="1" cap="none">
                <a:solidFill>
                  <a:schemeClr val="bg1">
                    <a:lumMod val="65000"/>
                  </a:schemeClr>
                </a:solidFill>
                <a:latin typeface="+mn-lt"/>
              </a:defRPr>
            </a:lvl1pPr>
          </a:lstStyle>
          <a:p>
            <a:r>
              <a:rPr lang="en-AU" noProof="0" dirty="0"/>
              <a:t>PRESENTATION TEMPLATE CREATED BY</a:t>
            </a:r>
          </a:p>
        </p:txBody>
      </p:sp>
      <p:sp>
        <p:nvSpPr>
          <p:cNvPr id="4" name="Date Placeholder 3"/>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6978086" y="873914"/>
            <a:ext cx="1561468" cy="1561468"/>
          </a:xfrm>
          <a:prstGeom prst="roundRect">
            <a:avLst>
              <a:gd name="adj" fmla="val 4112"/>
            </a:avLst>
          </a:prstGeom>
          <a:blipFill dpi="0" rotWithShape="1">
            <a:blip r:embed="rId2">
              <a:extLst>
                <a:ext uri="{28A0092B-C50C-407E-A947-70E740481C1C}">
                  <a14:useLocalDpi xmlns:a14="http://schemas.microsoft.com/office/drawing/2010/main" val="0"/>
                </a:ext>
              </a:extLst>
            </a:blip>
            <a:srcRect/>
            <a:stretch>
              <a:fillRect/>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
        <p:nvSpPr>
          <p:cNvPr id="13" name="Text Placeholder 12"/>
          <p:cNvSpPr>
            <a:spLocks noGrp="1"/>
          </p:cNvSpPr>
          <p:nvPr>
            <p:ph type="body" sz="quarter" idx="14" hasCustomPrompt="1"/>
          </p:nvPr>
        </p:nvSpPr>
        <p:spPr>
          <a:xfrm>
            <a:off x="609600" y="1358681"/>
            <a:ext cx="6207659" cy="633082"/>
          </a:xfrm>
        </p:spPr>
        <p:txBody>
          <a:bodyPr/>
          <a:lstStyle>
            <a:lvl1pPr marL="0" indent="0">
              <a:buNone/>
              <a:defRPr>
                <a:solidFill>
                  <a:schemeClr val="bg1">
                    <a:lumMod val="8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Adrian Gould</a:t>
            </a:r>
            <a:endParaRPr lang="en-US" dirty="0"/>
          </a:p>
        </p:txBody>
      </p:sp>
      <p:sp>
        <p:nvSpPr>
          <p:cNvPr id="15" name="Text Placeholder 14"/>
          <p:cNvSpPr>
            <a:spLocks noGrp="1"/>
          </p:cNvSpPr>
          <p:nvPr>
            <p:ph type="body" sz="quarter" idx="15" hasCustomPrompt="1"/>
          </p:nvPr>
        </p:nvSpPr>
        <p:spPr>
          <a:xfrm>
            <a:off x="609600" y="2101835"/>
            <a:ext cx="6207659" cy="333547"/>
          </a:xfrm>
        </p:spPr>
        <p:txBody>
          <a:bodyPr>
            <a:normAutofit/>
          </a:bodyPr>
          <a:lstStyle>
            <a:lvl1pPr marL="0" indent="0">
              <a:buNone/>
              <a:defRPr sz="11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LECTURER SOFTWARE DEVELOPMENT, WEB DEVELOPMENT, IOT</a:t>
            </a:r>
            <a:endParaRPr lang="en-US" dirty="0"/>
          </a:p>
        </p:txBody>
      </p:sp>
    </p:spTree>
    <p:extLst>
      <p:ext uri="{BB962C8B-B14F-4D97-AF65-F5344CB8AC3E}">
        <p14:creationId xmlns:p14="http://schemas.microsoft.com/office/powerpoint/2010/main" val="1663450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4122098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65291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a:prstGeom prst="roundRect">
            <a:avLst>
              <a:gd name="adj" fmla="val 2544"/>
            </a:avLst>
          </a:prstGeom>
          <a:solidFill>
            <a:schemeClr val="tx2">
              <a:lumMod val="60000"/>
              <a:lumOff val="4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Click to 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058385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9/2/2025</a:t>
            </a:fld>
            <a:endParaRPr lang="en-US" dirty="0"/>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dirty="0"/>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dirty="0"/>
          </a:p>
        </p:txBody>
      </p:sp>
      <p:sp>
        <p:nvSpPr>
          <p:cNvPr id="7" name="TextBox 6">
            <a:extLst>
              <a:ext uri="{FF2B5EF4-FFF2-40B4-BE49-F238E27FC236}">
                <a16:creationId xmlns:a16="http://schemas.microsoft.com/office/drawing/2014/main" id="{832D6C36-AC3E-7459-1287-8BAD55E4ED02}"/>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US"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67" r:id="rId1"/>
    <p:sldLayoutId id="2147483651" r:id="rId2"/>
    <p:sldLayoutId id="2147483650" r:id="rId3"/>
    <p:sldLayoutId id="2147483665" r:id="rId4"/>
    <p:sldLayoutId id="2147483652" r:id="rId5"/>
    <p:sldLayoutId id="2147483653" r:id="rId6"/>
    <p:sldLayoutId id="2147483661" r:id="rId7"/>
    <p:sldLayoutId id="2147483662" r:id="rId8"/>
    <p:sldLayoutId id="2147483654" r:id="rId9"/>
    <p:sldLayoutId id="2147483663" r:id="rId10"/>
    <p:sldLayoutId id="2147483664" r:id="rId11"/>
    <p:sldLayoutId id="2147483660" r:id="rId12"/>
    <p:sldLayoutId id="2147483668" r:id="rId13"/>
    <p:sldLayoutId id="2147483655" r:id="rId14"/>
    <p:sldLayoutId id="2147483656" r:id="rId15"/>
    <p:sldLayoutId id="2147483657" r:id="rId16"/>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8.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Intermediate programming</a:t>
            </a:r>
            <a:endParaRPr lang="en-AU" dirty="0"/>
          </a:p>
        </p:txBody>
      </p:sp>
      <p:graphicFrame>
        <p:nvGraphicFramePr>
          <p:cNvPr id="20" name="Table Placeholder 19"/>
          <p:cNvGraphicFramePr>
            <a:graphicFrameLocks noGrp="1"/>
          </p:cNvGraphicFramePr>
          <p:nvPr>
            <p:ph type="tbl" sz="quarter" idx="13"/>
            <p:extLst>
              <p:ext uri="{D42A27DB-BD31-4B8C-83A1-F6EECF244321}">
                <p14:modId xmlns:p14="http://schemas.microsoft.com/office/powerpoint/2010/main" val="1489701313"/>
              </p:ext>
            </p:extLst>
          </p:nvPr>
        </p:nvGraphicFramePr>
        <p:xfrm>
          <a:off x="1050925" y="5448362"/>
          <a:ext cx="10083800" cy="827997"/>
        </p:xfrm>
        <a:graphic>
          <a:graphicData uri="http://schemas.openxmlformats.org/drawingml/2006/table">
            <a:tbl>
              <a:tblPr firstCol="1" bandRow="1">
                <a:tableStyleId>{0E3FDE45-AF77-4B5C-9715-49D594BDF05E}</a:tableStyleId>
              </a:tblPr>
              <a:tblGrid>
                <a:gridCol w="1718238">
                  <a:extLst>
                    <a:ext uri="{9D8B030D-6E8A-4147-A177-3AD203B41FA5}">
                      <a16:colId xmlns:a16="http://schemas.microsoft.com/office/drawing/2014/main" val="1432791058"/>
                    </a:ext>
                  </a:extLst>
                </a:gridCol>
                <a:gridCol w="8365562">
                  <a:extLst>
                    <a:ext uri="{9D8B030D-6E8A-4147-A177-3AD203B41FA5}">
                      <a16:colId xmlns:a16="http://schemas.microsoft.com/office/drawing/2014/main" val="517524959"/>
                    </a:ext>
                  </a:extLst>
                </a:gridCol>
              </a:tblGrid>
              <a:tr h="275999">
                <a:tc>
                  <a:txBody>
                    <a:bodyPr/>
                    <a:lstStyle/>
                    <a:p>
                      <a:pPr>
                        <a:spcBef>
                          <a:spcPts val="300"/>
                        </a:spcBef>
                        <a:spcAft>
                          <a:spcPts val="300"/>
                        </a:spcAft>
                      </a:pPr>
                      <a:r>
                        <a:rPr lang="en-US" sz="1100" dirty="0">
                          <a:solidFill>
                            <a:schemeClr val="bg1">
                              <a:lumMod val="85000"/>
                            </a:schemeClr>
                          </a:solidFill>
                          <a:effectLst/>
                          <a:latin typeface="Arial" panose="020B0604020202020204" pitchFamily="34" charset="0"/>
                          <a:ea typeface="Times New Roman" panose="02020603050405020304" pitchFamily="18" charset="0"/>
                        </a:rPr>
                        <a:t>ICTPRG439</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just">
                        <a:lnSpc>
                          <a:spcPct val="115000"/>
                        </a:lnSpc>
                      </a:pPr>
                      <a:r>
                        <a:rPr lang="en-AU" sz="1000">
                          <a:solidFill>
                            <a:schemeClr val="bg1">
                              <a:lumMod val="85000"/>
                            </a:schemeClr>
                          </a:solidFill>
                          <a:effectLst/>
                          <a:latin typeface="Arial" panose="020B0604020202020204" pitchFamily="34" charset="0"/>
                          <a:ea typeface="SimSun" panose="02010600030101010101" pitchFamily="2" charset="-122"/>
                        </a:rPr>
                        <a:t>Use pre-existing components</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402270444"/>
                  </a:ext>
                </a:extLst>
              </a:tr>
              <a:tr h="275999">
                <a:tc>
                  <a:txBody>
                    <a:bodyPr/>
                    <a:lstStyle/>
                    <a:p>
                      <a:pPr>
                        <a:spcBef>
                          <a:spcPts val="300"/>
                        </a:spcBef>
                        <a:spcAft>
                          <a:spcPts val="300"/>
                        </a:spcAft>
                      </a:pPr>
                      <a:r>
                        <a:rPr lang="en-US" sz="1100" dirty="0">
                          <a:solidFill>
                            <a:schemeClr val="bg1">
                              <a:lumMod val="85000"/>
                            </a:schemeClr>
                          </a:solidFill>
                          <a:effectLst/>
                          <a:latin typeface="Arial" panose="020B0604020202020204" pitchFamily="34" charset="0"/>
                          <a:ea typeface="Times New Roman" panose="02020603050405020304" pitchFamily="18" charset="0"/>
                        </a:rPr>
                        <a:t>ICTPRG429</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Bef>
                          <a:spcPts val="300"/>
                        </a:spcBef>
                        <a:spcAft>
                          <a:spcPts val="300"/>
                        </a:spcAft>
                      </a:pPr>
                      <a:r>
                        <a:rPr lang="en-AU" sz="1000">
                          <a:solidFill>
                            <a:schemeClr val="bg1">
                              <a:lumMod val="85000"/>
                            </a:schemeClr>
                          </a:solidFill>
                          <a:effectLst/>
                          <a:latin typeface="Arial" panose="020B0604020202020204" pitchFamily="34" charset="0"/>
                          <a:ea typeface="SimSun" panose="02010600030101010101" pitchFamily="2" charset="-122"/>
                        </a:rPr>
                        <a:t>Maintain open-source code programs</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518773640"/>
                  </a:ext>
                </a:extLst>
              </a:tr>
              <a:tr h="275999">
                <a:tc>
                  <a:txBody>
                    <a:bodyPr/>
                    <a:lstStyle/>
                    <a:p>
                      <a:pPr>
                        <a:spcBef>
                          <a:spcPts val="300"/>
                        </a:spcBef>
                        <a:spcAft>
                          <a:spcPts val="300"/>
                        </a:spcAft>
                      </a:pPr>
                      <a:r>
                        <a:rPr lang="en-US" sz="1100">
                          <a:solidFill>
                            <a:schemeClr val="bg1">
                              <a:lumMod val="85000"/>
                            </a:schemeClr>
                          </a:solidFill>
                          <a:effectLst/>
                          <a:latin typeface="Arial" panose="020B0604020202020204" pitchFamily="34" charset="0"/>
                          <a:ea typeface="Times New Roman" panose="02020603050405020304" pitchFamily="18" charset="0"/>
                        </a:rPr>
                        <a:t>ICTPRG443</a:t>
                      </a:r>
                      <a:endParaRPr lang="en-AU" sz="120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spcBef>
                          <a:spcPts val="300"/>
                        </a:spcBef>
                        <a:spcAft>
                          <a:spcPts val="300"/>
                        </a:spcAft>
                      </a:pPr>
                      <a:r>
                        <a:rPr lang="en-AU" sz="1000" dirty="0">
                          <a:solidFill>
                            <a:schemeClr val="bg1">
                              <a:lumMod val="85000"/>
                            </a:schemeClr>
                          </a:solidFill>
                          <a:effectLst/>
                          <a:latin typeface="Arial" panose="020B0604020202020204" pitchFamily="34" charset="0"/>
                          <a:ea typeface="SimSun" panose="02010600030101010101" pitchFamily="2" charset="-122"/>
                        </a:rPr>
                        <a:t>Apply intermediate programming skills in different languages</a:t>
                      </a:r>
                      <a:endParaRPr lang="en-AU" sz="1200" dirty="0">
                        <a:solidFill>
                          <a:schemeClr val="bg1">
                            <a:lumMod val="85000"/>
                          </a:schemeClr>
                        </a:solidFill>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259170586"/>
                  </a:ext>
                </a:extLst>
              </a:tr>
            </a:tbl>
          </a:graphicData>
        </a:graphic>
      </p:graphicFrame>
      <p:sp>
        <p:nvSpPr>
          <p:cNvPr id="17" name="Text Placeholder 16"/>
          <p:cNvSpPr>
            <a:spLocks noGrp="1"/>
          </p:cNvSpPr>
          <p:nvPr>
            <p:ph type="body" sz="quarter" idx="15"/>
          </p:nvPr>
        </p:nvSpPr>
        <p:spPr>
          <a:xfrm>
            <a:off x="1051130" y="5081097"/>
            <a:ext cx="10084038" cy="428986"/>
          </a:xfrm>
        </p:spPr>
        <p:txBody>
          <a:bodyPr/>
          <a:lstStyle/>
          <a:p>
            <a:r>
              <a:rPr lang="en-AU" dirty="0"/>
              <a:t>Cluster: Intermediate programming and open source (IPOS)</a:t>
            </a:r>
          </a:p>
        </p:txBody>
      </p:sp>
      <p:sp>
        <p:nvSpPr>
          <p:cNvPr id="40" name="Text Placeholder 39"/>
          <p:cNvSpPr>
            <a:spLocks noGrp="1"/>
          </p:cNvSpPr>
          <p:nvPr>
            <p:ph type="body" sz="quarter" idx="16"/>
          </p:nvPr>
        </p:nvSpPr>
        <p:spPr>
          <a:xfrm>
            <a:off x="2991027" y="2862840"/>
            <a:ext cx="8144143" cy="1131091"/>
          </a:xfrm>
        </p:spPr>
        <p:txBody>
          <a:bodyPr/>
          <a:lstStyle/>
          <a:p>
            <a:endParaRPr lang="en-AU" dirty="0"/>
          </a:p>
        </p:txBody>
      </p:sp>
      <p:sp>
        <p:nvSpPr>
          <p:cNvPr id="41" name="Content Placeholder 40"/>
          <p:cNvSpPr>
            <a:spLocks noGrp="1"/>
          </p:cNvSpPr>
          <p:nvPr>
            <p:ph sz="quarter" idx="17"/>
          </p:nvPr>
        </p:nvSpPr>
        <p:spPr>
          <a:xfrm>
            <a:off x="1050925" y="4230443"/>
            <a:ext cx="10083800" cy="602809"/>
          </a:xfrm>
        </p:spPr>
        <p:txBody>
          <a:bodyPr/>
          <a:lstStyle/>
          <a:p>
            <a:r>
              <a:rPr lang="en-AU" dirty="0"/>
              <a:t>ICT40220 Certificate IV in Information Technology (Programming)</a:t>
            </a:r>
          </a:p>
        </p:txBody>
      </p:sp>
      <p:sp>
        <p:nvSpPr>
          <p:cNvPr id="4" name="Text Placeholder 3">
            <a:extLst>
              <a:ext uri="{FF2B5EF4-FFF2-40B4-BE49-F238E27FC236}">
                <a16:creationId xmlns:a16="http://schemas.microsoft.com/office/drawing/2014/main" id="{21F81A4C-2E98-64A7-48E3-0EE8B192F7DC}"/>
              </a:ext>
            </a:extLst>
          </p:cNvPr>
          <p:cNvSpPr>
            <a:spLocks noGrp="1"/>
          </p:cNvSpPr>
          <p:nvPr>
            <p:ph type="body" sz="quarter" idx="14"/>
          </p:nvPr>
        </p:nvSpPr>
        <p:spPr/>
        <p:txBody>
          <a:bodyPr/>
          <a:lstStyle/>
          <a:p>
            <a:r>
              <a:rPr lang="en-US" dirty="0"/>
              <a:t>Session 06</a:t>
            </a:r>
          </a:p>
        </p:txBody>
      </p:sp>
    </p:spTree>
    <p:extLst>
      <p:ext uri="{BB962C8B-B14F-4D97-AF65-F5344CB8AC3E}">
        <p14:creationId xmlns:p14="http://schemas.microsoft.com/office/powerpoint/2010/main" val="91334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28C6B-AF38-4625-59ED-399783321C33}"/>
              </a:ext>
            </a:extLst>
          </p:cNvPr>
          <p:cNvSpPr>
            <a:spLocks noGrp="1"/>
          </p:cNvSpPr>
          <p:nvPr>
            <p:ph type="title"/>
          </p:nvPr>
        </p:nvSpPr>
        <p:spPr/>
        <p:txBody>
          <a:bodyPr/>
          <a:lstStyle/>
          <a:p>
            <a:r>
              <a:rPr lang="en-US" dirty="0"/>
              <a:t>Debugging and documentation</a:t>
            </a:r>
          </a:p>
        </p:txBody>
      </p:sp>
      <p:sp>
        <p:nvSpPr>
          <p:cNvPr id="3" name="Text Placeholder 2">
            <a:extLst>
              <a:ext uri="{FF2B5EF4-FFF2-40B4-BE49-F238E27FC236}">
                <a16:creationId xmlns:a16="http://schemas.microsoft.com/office/drawing/2014/main" id="{0350A2F8-B6CB-ECAF-3413-69556A2B26C9}"/>
              </a:ext>
            </a:extLst>
          </p:cNvPr>
          <p:cNvSpPr>
            <a:spLocks noGrp="1"/>
          </p:cNvSpPr>
          <p:nvPr>
            <p:ph type="body" idx="1"/>
          </p:nvPr>
        </p:nvSpPr>
        <p:spPr/>
        <p:txBody>
          <a:bodyPr/>
          <a:lstStyle/>
          <a:p>
            <a:r>
              <a:rPr lang="en-US" dirty="0"/>
              <a:t>Session 06 - Week 07</a:t>
            </a:r>
          </a:p>
        </p:txBody>
      </p:sp>
    </p:spTree>
    <p:extLst>
      <p:ext uri="{BB962C8B-B14F-4D97-AF65-F5344CB8AC3E}">
        <p14:creationId xmlns:p14="http://schemas.microsoft.com/office/powerpoint/2010/main" val="961247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67FEE7-188E-0D12-2A86-A7992C15D69C}"/>
              </a:ext>
            </a:extLst>
          </p:cNvPr>
          <p:cNvSpPr>
            <a:spLocks noGrp="1"/>
          </p:cNvSpPr>
          <p:nvPr>
            <p:ph type="title"/>
          </p:nvPr>
        </p:nvSpPr>
        <p:spPr/>
        <p:txBody>
          <a:bodyPr/>
          <a:lstStyle/>
          <a:p>
            <a:r>
              <a:rPr lang="en-US" dirty="0"/>
              <a:t>Overview</a:t>
            </a:r>
          </a:p>
        </p:txBody>
      </p:sp>
      <p:sp>
        <p:nvSpPr>
          <p:cNvPr id="5" name="Content Placeholder 4">
            <a:extLst>
              <a:ext uri="{FF2B5EF4-FFF2-40B4-BE49-F238E27FC236}">
                <a16:creationId xmlns:a16="http://schemas.microsoft.com/office/drawing/2014/main" id="{C6D46DCE-499F-F35B-1619-A830853E9491}"/>
              </a:ext>
            </a:extLst>
          </p:cNvPr>
          <p:cNvSpPr>
            <a:spLocks noGrp="1"/>
          </p:cNvSpPr>
          <p:nvPr>
            <p:ph idx="1"/>
          </p:nvPr>
        </p:nvSpPr>
        <p:spPr/>
        <p:txBody>
          <a:bodyPr numCol="2">
            <a:normAutofit/>
          </a:bodyPr>
          <a:lstStyle/>
          <a:p>
            <a:r>
              <a:rPr lang="en-US" b="1" dirty="0"/>
              <a:t>Debugging</a:t>
            </a:r>
          </a:p>
          <a:p>
            <a:pPr lvl="1"/>
            <a:r>
              <a:rPr lang="en-US" dirty="0"/>
              <a:t>Key python debuggers</a:t>
            </a:r>
          </a:p>
          <a:p>
            <a:pPr lvl="1"/>
            <a:r>
              <a:rPr lang="en-US" dirty="0"/>
              <a:t>Debugging versus logging</a:t>
            </a:r>
            <a:br>
              <a:rPr lang="en-US" dirty="0"/>
            </a:br>
            <a:endParaRPr lang="en-US" dirty="0"/>
          </a:p>
          <a:p>
            <a:r>
              <a:rPr lang="en-US" b="1" dirty="0"/>
              <a:t>Documentation</a:t>
            </a:r>
          </a:p>
          <a:p>
            <a:pPr lvl="1"/>
            <a:r>
              <a:rPr lang="en-US" dirty="0"/>
              <a:t>Python documentation</a:t>
            </a:r>
          </a:p>
          <a:p>
            <a:pPr lvl="1"/>
            <a:r>
              <a:rPr lang="en-US" dirty="0" err="1"/>
              <a:t>Doctests</a:t>
            </a:r>
            <a:endParaRPr lang="en-US" dirty="0"/>
          </a:p>
          <a:p>
            <a:pPr lvl="1"/>
            <a:r>
              <a:rPr lang="en-US" dirty="0"/>
              <a:t>Generating documentation </a:t>
            </a:r>
          </a:p>
        </p:txBody>
      </p:sp>
    </p:spTree>
    <p:extLst>
      <p:ext uri="{BB962C8B-B14F-4D97-AF65-F5344CB8AC3E}">
        <p14:creationId xmlns:p14="http://schemas.microsoft.com/office/powerpoint/2010/main" val="2565698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A8AA1B-7FDD-E22A-0B53-F9E02283022E}"/>
              </a:ext>
            </a:extLst>
          </p:cNvPr>
          <p:cNvPicPr>
            <a:picLocks noChangeAspect="1"/>
          </p:cNvPicPr>
          <p:nvPr/>
        </p:nvPicPr>
        <p:blipFill>
          <a:blip r:embed="rId2"/>
          <a:stretch>
            <a:fillRect/>
          </a:stretch>
        </p:blipFill>
        <p:spPr>
          <a:xfrm>
            <a:off x="0" y="450850"/>
            <a:ext cx="12192000" cy="6604000"/>
          </a:xfrm>
          <a:prstGeom prst="rect">
            <a:avLst/>
          </a:prstGeom>
        </p:spPr>
      </p:pic>
      <p:sp>
        <p:nvSpPr>
          <p:cNvPr id="5" name="TextBox 4">
            <a:extLst>
              <a:ext uri="{FF2B5EF4-FFF2-40B4-BE49-F238E27FC236}">
                <a16:creationId xmlns:a16="http://schemas.microsoft.com/office/drawing/2014/main" id="{E7F51B3F-5638-E324-DB01-8AB77DE7FDB1}"/>
              </a:ext>
            </a:extLst>
          </p:cNvPr>
          <p:cNvSpPr txBox="1"/>
          <p:nvPr/>
        </p:nvSpPr>
        <p:spPr>
          <a:xfrm>
            <a:off x="2594918" y="3029575"/>
            <a:ext cx="6655407" cy="1446550"/>
          </a:xfrm>
          <a:prstGeom prst="rect">
            <a:avLst/>
          </a:prstGeom>
          <a:solidFill>
            <a:schemeClr val="tx1">
              <a:alpha val="80000"/>
            </a:schemeClr>
          </a:solidFill>
          <a:ln>
            <a:noFill/>
          </a:ln>
        </p:spPr>
        <p:txBody>
          <a:bodyPr wrap="square" rtlCol="0">
            <a:spAutoFit/>
          </a:bodyPr>
          <a:lstStyle/>
          <a:p>
            <a:pPr algn="ctr"/>
            <a:r>
              <a:rPr lang="en-US" sz="8800" dirty="0">
                <a:solidFill>
                  <a:schemeClr val="bg1"/>
                </a:solidFill>
              </a:rPr>
              <a:t>debugging</a:t>
            </a:r>
          </a:p>
        </p:txBody>
      </p:sp>
    </p:spTree>
    <p:extLst>
      <p:ext uri="{BB962C8B-B14F-4D97-AF65-F5344CB8AC3E}">
        <p14:creationId xmlns:p14="http://schemas.microsoft.com/office/powerpoint/2010/main" val="3552474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A8AA1B-7FDD-E22A-0B53-F9E02283022E}"/>
              </a:ext>
            </a:extLst>
          </p:cNvPr>
          <p:cNvPicPr>
            <a:picLocks noChangeAspect="1"/>
          </p:cNvPicPr>
          <p:nvPr/>
        </p:nvPicPr>
        <p:blipFill>
          <a:blip r:embed="rId2"/>
          <a:stretch>
            <a:fillRect/>
          </a:stretch>
        </p:blipFill>
        <p:spPr>
          <a:xfrm>
            <a:off x="0" y="450850"/>
            <a:ext cx="12192000" cy="6604000"/>
          </a:xfrm>
          <a:prstGeom prst="rect">
            <a:avLst/>
          </a:prstGeom>
        </p:spPr>
      </p:pic>
      <p:sp>
        <p:nvSpPr>
          <p:cNvPr id="5" name="TextBox 4">
            <a:extLst>
              <a:ext uri="{FF2B5EF4-FFF2-40B4-BE49-F238E27FC236}">
                <a16:creationId xmlns:a16="http://schemas.microsoft.com/office/drawing/2014/main" id="{E7F51B3F-5638-E324-DB01-8AB77DE7FDB1}"/>
              </a:ext>
            </a:extLst>
          </p:cNvPr>
          <p:cNvSpPr txBox="1"/>
          <p:nvPr/>
        </p:nvSpPr>
        <p:spPr>
          <a:xfrm>
            <a:off x="2594918" y="3029575"/>
            <a:ext cx="6655407" cy="1446550"/>
          </a:xfrm>
          <a:prstGeom prst="rect">
            <a:avLst/>
          </a:prstGeom>
          <a:solidFill>
            <a:schemeClr val="tx1">
              <a:alpha val="80000"/>
            </a:schemeClr>
          </a:solidFill>
          <a:ln>
            <a:noFill/>
          </a:ln>
        </p:spPr>
        <p:txBody>
          <a:bodyPr wrap="square" rtlCol="0">
            <a:spAutoFit/>
          </a:bodyPr>
          <a:lstStyle/>
          <a:p>
            <a:pPr algn="ctr"/>
            <a:r>
              <a:rPr lang="en-US" sz="8800" dirty="0">
                <a:solidFill>
                  <a:schemeClr val="bg1"/>
                </a:solidFill>
              </a:rPr>
              <a:t>de    bugging</a:t>
            </a:r>
          </a:p>
        </p:txBody>
      </p:sp>
      <p:sp>
        <p:nvSpPr>
          <p:cNvPr id="2" name="Rectangle 1">
            <a:extLst>
              <a:ext uri="{FF2B5EF4-FFF2-40B4-BE49-F238E27FC236}">
                <a16:creationId xmlns:a16="http://schemas.microsoft.com/office/drawing/2014/main" id="{9D955189-277C-4F73-704F-60ADF11C7D00}"/>
              </a:ext>
            </a:extLst>
          </p:cNvPr>
          <p:cNvSpPr/>
          <p:nvPr/>
        </p:nvSpPr>
        <p:spPr>
          <a:xfrm>
            <a:off x="2594918" y="3060769"/>
            <a:ext cx="2137144" cy="1446550"/>
          </a:xfrm>
          <a:prstGeom prst="rect">
            <a:avLst/>
          </a:prstGeom>
          <a:noFill/>
          <a:ln w="571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51F340F-8368-1BA3-1357-A8FC03DC5ED7}"/>
              </a:ext>
            </a:extLst>
          </p:cNvPr>
          <p:cNvSpPr/>
          <p:nvPr/>
        </p:nvSpPr>
        <p:spPr>
          <a:xfrm>
            <a:off x="5134327" y="3060769"/>
            <a:ext cx="1883161" cy="1446550"/>
          </a:xfrm>
          <a:prstGeom prst="rect">
            <a:avLst/>
          </a:prstGeom>
          <a:noFill/>
          <a:ln w="571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9790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A8AA1B-7FDD-E22A-0B53-F9E02283022E}"/>
              </a:ext>
            </a:extLst>
          </p:cNvPr>
          <p:cNvPicPr>
            <a:picLocks noChangeAspect="1"/>
          </p:cNvPicPr>
          <p:nvPr/>
        </p:nvPicPr>
        <p:blipFill>
          <a:blip r:embed="rId2"/>
          <a:stretch>
            <a:fillRect/>
          </a:stretch>
        </p:blipFill>
        <p:spPr>
          <a:xfrm>
            <a:off x="0" y="450850"/>
            <a:ext cx="12192000" cy="6604000"/>
          </a:xfrm>
          <a:prstGeom prst="rect">
            <a:avLst/>
          </a:prstGeom>
        </p:spPr>
      </p:pic>
      <p:sp>
        <p:nvSpPr>
          <p:cNvPr id="5" name="TextBox 4">
            <a:extLst>
              <a:ext uri="{FF2B5EF4-FFF2-40B4-BE49-F238E27FC236}">
                <a16:creationId xmlns:a16="http://schemas.microsoft.com/office/drawing/2014/main" id="{E7F51B3F-5638-E324-DB01-8AB77DE7FDB1}"/>
              </a:ext>
            </a:extLst>
          </p:cNvPr>
          <p:cNvSpPr txBox="1"/>
          <p:nvPr/>
        </p:nvSpPr>
        <p:spPr>
          <a:xfrm>
            <a:off x="2594918" y="3029575"/>
            <a:ext cx="6655407" cy="1446550"/>
          </a:xfrm>
          <a:prstGeom prst="rect">
            <a:avLst/>
          </a:prstGeom>
          <a:solidFill>
            <a:schemeClr val="tx1">
              <a:alpha val="80000"/>
            </a:schemeClr>
          </a:solidFill>
          <a:ln>
            <a:noFill/>
          </a:ln>
        </p:spPr>
        <p:txBody>
          <a:bodyPr wrap="square" rtlCol="0">
            <a:spAutoFit/>
          </a:bodyPr>
          <a:lstStyle/>
          <a:p>
            <a:pPr algn="ctr"/>
            <a:r>
              <a:rPr lang="en-US" sz="8800" dirty="0">
                <a:solidFill>
                  <a:schemeClr val="bg1"/>
                </a:solidFill>
              </a:rPr>
              <a:t>de    bugging</a:t>
            </a:r>
          </a:p>
        </p:txBody>
      </p:sp>
      <p:sp>
        <p:nvSpPr>
          <p:cNvPr id="2" name="Rectangle 1">
            <a:extLst>
              <a:ext uri="{FF2B5EF4-FFF2-40B4-BE49-F238E27FC236}">
                <a16:creationId xmlns:a16="http://schemas.microsoft.com/office/drawing/2014/main" id="{9D955189-277C-4F73-704F-60ADF11C7D00}"/>
              </a:ext>
            </a:extLst>
          </p:cNvPr>
          <p:cNvSpPr/>
          <p:nvPr/>
        </p:nvSpPr>
        <p:spPr>
          <a:xfrm>
            <a:off x="2594919" y="3060769"/>
            <a:ext cx="1434822" cy="1446550"/>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51F340F-8368-1BA3-1357-A8FC03DC5ED7}"/>
              </a:ext>
            </a:extLst>
          </p:cNvPr>
          <p:cNvSpPr/>
          <p:nvPr/>
        </p:nvSpPr>
        <p:spPr>
          <a:xfrm>
            <a:off x="5134327" y="3060769"/>
            <a:ext cx="1883161" cy="1446550"/>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685567B-FCAF-C237-D859-FF64B587FBCE}"/>
              </a:ext>
            </a:extLst>
          </p:cNvPr>
          <p:cNvSpPr txBox="1"/>
          <p:nvPr/>
        </p:nvSpPr>
        <p:spPr>
          <a:xfrm>
            <a:off x="385482" y="-646331"/>
            <a:ext cx="4339650" cy="646331"/>
          </a:xfrm>
          <a:prstGeom prst="rect">
            <a:avLst/>
          </a:prstGeom>
          <a:noFill/>
        </p:spPr>
        <p:txBody>
          <a:bodyPr wrap="none" rtlCol="0">
            <a:spAutoFit/>
          </a:bodyPr>
          <a:lstStyle/>
          <a:p>
            <a:r>
              <a:rPr lang="en-US" sz="3600" dirty="0"/>
              <a:t>aka. removing bugs </a:t>
            </a:r>
          </a:p>
        </p:txBody>
      </p:sp>
      <p:sp>
        <p:nvSpPr>
          <p:cNvPr id="7" name="TextBox 6">
            <a:extLst>
              <a:ext uri="{FF2B5EF4-FFF2-40B4-BE49-F238E27FC236}">
                <a16:creationId xmlns:a16="http://schemas.microsoft.com/office/drawing/2014/main" id="{F3B2791A-B280-5C88-226E-19F151E16C74}"/>
              </a:ext>
            </a:extLst>
          </p:cNvPr>
          <p:cNvSpPr txBox="1"/>
          <p:nvPr/>
        </p:nvSpPr>
        <p:spPr>
          <a:xfrm>
            <a:off x="4787374" y="7072282"/>
            <a:ext cx="3903633" cy="646331"/>
          </a:xfrm>
          <a:prstGeom prst="rect">
            <a:avLst/>
          </a:prstGeom>
          <a:noFill/>
        </p:spPr>
        <p:txBody>
          <a:bodyPr wrap="none" rtlCol="0">
            <a:spAutoFit/>
          </a:bodyPr>
          <a:lstStyle/>
          <a:p>
            <a:pPr algn="ctr"/>
            <a:r>
              <a:rPr lang="en-US" sz="3600" dirty="0"/>
              <a:t>aka. programming</a:t>
            </a:r>
          </a:p>
        </p:txBody>
      </p:sp>
    </p:spTree>
    <p:extLst>
      <p:ext uri="{BB962C8B-B14F-4D97-AF65-F5344CB8AC3E}">
        <p14:creationId xmlns:p14="http://schemas.microsoft.com/office/powerpoint/2010/main" val="24409464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A8AA1B-7FDD-E22A-0B53-F9E02283022E}"/>
              </a:ext>
            </a:extLst>
          </p:cNvPr>
          <p:cNvPicPr>
            <a:picLocks noChangeAspect="1"/>
          </p:cNvPicPr>
          <p:nvPr/>
        </p:nvPicPr>
        <p:blipFill>
          <a:blip r:embed="rId2"/>
          <a:stretch>
            <a:fillRect/>
          </a:stretch>
        </p:blipFill>
        <p:spPr>
          <a:xfrm>
            <a:off x="0" y="450850"/>
            <a:ext cx="12192000" cy="6604000"/>
          </a:xfrm>
          <a:prstGeom prst="rect">
            <a:avLst/>
          </a:prstGeom>
        </p:spPr>
      </p:pic>
      <p:sp>
        <p:nvSpPr>
          <p:cNvPr id="6" name="Rectangle 5">
            <a:extLst>
              <a:ext uri="{FF2B5EF4-FFF2-40B4-BE49-F238E27FC236}">
                <a16:creationId xmlns:a16="http://schemas.microsoft.com/office/drawing/2014/main" id="{201D6EAF-9813-8A37-18D8-538C1E201DF2}"/>
              </a:ext>
            </a:extLst>
          </p:cNvPr>
          <p:cNvSpPr/>
          <p:nvPr/>
        </p:nvSpPr>
        <p:spPr>
          <a:xfrm>
            <a:off x="0" y="450850"/>
            <a:ext cx="12192000" cy="6604000"/>
          </a:xfrm>
          <a:prstGeom prst="rect">
            <a:avLst/>
          </a:prstGeom>
          <a:solidFill>
            <a:srgbClr val="000000">
              <a:alpha val="698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7F51B3F-5638-E324-DB01-8AB77DE7FDB1}"/>
              </a:ext>
            </a:extLst>
          </p:cNvPr>
          <p:cNvSpPr txBox="1"/>
          <p:nvPr/>
        </p:nvSpPr>
        <p:spPr>
          <a:xfrm>
            <a:off x="2594918" y="3029575"/>
            <a:ext cx="6655407" cy="1446550"/>
          </a:xfrm>
          <a:prstGeom prst="rect">
            <a:avLst/>
          </a:prstGeom>
          <a:solidFill>
            <a:schemeClr val="tx1">
              <a:alpha val="80000"/>
            </a:schemeClr>
          </a:solidFill>
          <a:ln>
            <a:noFill/>
          </a:ln>
        </p:spPr>
        <p:txBody>
          <a:bodyPr wrap="square" rtlCol="0">
            <a:spAutoFit/>
          </a:bodyPr>
          <a:lstStyle/>
          <a:p>
            <a:pPr algn="ctr"/>
            <a:r>
              <a:rPr lang="en-US" sz="8800" dirty="0">
                <a:solidFill>
                  <a:schemeClr val="bg1"/>
                </a:solidFill>
              </a:rPr>
              <a:t>de    bugging</a:t>
            </a:r>
          </a:p>
        </p:txBody>
      </p:sp>
      <p:sp>
        <p:nvSpPr>
          <p:cNvPr id="3" name="Rectangle 2">
            <a:extLst>
              <a:ext uri="{FF2B5EF4-FFF2-40B4-BE49-F238E27FC236}">
                <a16:creationId xmlns:a16="http://schemas.microsoft.com/office/drawing/2014/main" id="{851F340F-8368-1BA3-1357-A8FC03DC5ED7}"/>
              </a:ext>
            </a:extLst>
          </p:cNvPr>
          <p:cNvSpPr/>
          <p:nvPr/>
        </p:nvSpPr>
        <p:spPr>
          <a:xfrm>
            <a:off x="5134327" y="3060769"/>
            <a:ext cx="1883161" cy="1446550"/>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BE99539-CD2E-4C02-70A9-052DC672125A}"/>
              </a:ext>
            </a:extLst>
          </p:cNvPr>
          <p:cNvSpPr/>
          <p:nvPr/>
        </p:nvSpPr>
        <p:spPr>
          <a:xfrm>
            <a:off x="2594919" y="3060769"/>
            <a:ext cx="1434822" cy="1446550"/>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B7995AA-8411-5238-8BF9-BCB214F6298D}"/>
              </a:ext>
            </a:extLst>
          </p:cNvPr>
          <p:cNvSpPr txBox="1"/>
          <p:nvPr/>
        </p:nvSpPr>
        <p:spPr>
          <a:xfrm>
            <a:off x="2594918" y="4699392"/>
            <a:ext cx="4339650" cy="646331"/>
          </a:xfrm>
          <a:prstGeom prst="rect">
            <a:avLst/>
          </a:prstGeom>
          <a:noFill/>
        </p:spPr>
        <p:txBody>
          <a:bodyPr wrap="none" rtlCol="0">
            <a:spAutoFit/>
          </a:bodyPr>
          <a:lstStyle/>
          <a:p>
            <a:r>
              <a:rPr lang="en-US" sz="3600" dirty="0">
                <a:solidFill>
                  <a:schemeClr val="bg1"/>
                </a:solidFill>
              </a:rPr>
              <a:t>aka. removing bugs </a:t>
            </a:r>
          </a:p>
        </p:txBody>
      </p:sp>
      <p:sp>
        <p:nvSpPr>
          <p:cNvPr id="10" name="TextBox 9">
            <a:extLst>
              <a:ext uri="{FF2B5EF4-FFF2-40B4-BE49-F238E27FC236}">
                <a16:creationId xmlns:a16="http://schemas.microsoft.com/office/drawing/2014/main" id="{5B58338F-6ABC-ACAF-0D23-F3ED01263320}"/>
              </a:ext>
            </a:extLst>
          </p:cNvPr>
          <p:cNvSpPr txBox="1"/>
          <p:nvPr/>
        </p:nvSpPr>
        <p:spPr>
          <a:xfrm>
            <a:off x="6996810" y="12418005"/>
            <a:ext cx="3903633" cy="646331"/>
          </a:xfrm>
          <a:prstGeom prst="rect">
            <a:avLst/>
          </a:prstGeom>
          <a:noFill/>
        </p:spPr>
        <p:txBody>
          <a:bodyPr wrap="none" rtlCol="0">
            <a:spAutoFit/>
          </a:bodyPr>
          <a:lstStyle/>
          <a:p>
            <a:pPr algn="ctr"/>
            <a:r>
              <a:rPr lang="en-US" sz="3600" dirty="0">
                <a:solidFill>
                  <a:schemeClr val="bg1"/>
                </a:solidFill>
              </a:rPr>
              <a:t>aka. programming</a:t>
            </a:r>
          </a:p>
        </p:txBody>
      </p:sp>
      <p:sp>
        <p:nvSpPr>
          <p:cNvPr id="11" name="TextBox 10">
            <a:extLst>
              <a:ext uri="{FF2B5EF4-FFF2-40B4-BE49-F238E27FC236}">
                <a16:creationId xmlns:a16="http://schemas.microsoft.com/office/drawing/2014/main" id="{F20BDA2F-2C06-3B81-09D5-44E4BBF97904}"/>
              </a:ext>
            </a:extLst>
          </p:cNvPr>
          <p:cNvSpPr txBox="1"/>
          <p:nvPr/>
        </p:nvSpPr>
        <p:spPr>
          <a:xfrm>
            <a:off x="4787374" y="7072282"/>
            <a:ext cx="3903633" cy="646331"/>
          </a:xfrm>
          <a:prstGeom prst="rect">
            <a:avLst/>
          </a:prstGeom>
          <a:noFill/>
        </p:spPr>
        <p:txBody>
          <a:bodyPr wrap="none" rtlCol="0">
            <a:spAutoFit/>
          </a:bodyPr>
          <a:lstStyle/>
          <a:p>
            <a:pPr algn="ctr"/>
            <a:r>
              <a:rPr lang="en-US" sz="3600" dirty="0"/>
              <a:t>aka. programming</a:t>
            </a:r>
          </a:p>
        </p:txBody>
      </p:sp>
    </p:spTree>
    <p:extLst>
      <p:ext uri="{BB962C8B-B14F-4D97-AF65-F5344CB8AC3E}">
        <p14:creationId xmlns:p14="http://schemas.microsoft.com/office/powerpoint/2010/main" val="4074086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A8AA1B-7FDD-E22A-0B53-F9E02283022E}"/>
              </a:ext>
            </a:extLst>
          </p:cNvPr>
          <p:cNvPicPr>
            <a:picLocks noChangeAspect="1"/>
          </p:cNvPicPr>
          <p:nvPr/>
        </p:nvPicPr>
        <p:blipFill>
          <a:blip r:embed="rId2"/>
          <a:stretch>
            <a:fillRect/>
          </a:stretch>
        </p:blipFill>
        <p:spPr>
          <a:xfrm>
            <a:off x="0" y="450850"/>
            <a:ext cx="12192000" cy="6604000"/>
          </a:xfrm>
          <a:prstGeom prst="rect">
            <a:avLst/>
          </a:prstGeom>
        </p:spPr>
      </p:pic>
      <p:sp>
        <p:nvSpPr>
          <p:cNvPr id="6" name="Rectangle 5">
            <a:extLst>
              <a:ext uri="{FF2B5EF4-FFF2-40B4-BE49-F238E27FC236}">
                <a16:creationId xmlns:a16="http://schemas.microsoft.com/office/drawing/2014/main" id="{201D6EAF-9813-8A37-18D8-538C1E201DF2}"/>
              </a:ext>
            </a:extLst>
          </p:cNvPr>
          <p:cNvSpPr/>
          <p:nvPr/>
        </p:nvSpPr>
        <p:spPr>
          <a:xfrm>
            <a:off x="0" y="450850"/>
            <a:ext cx="12192000" cy="6604000"/>
          </a:xfrm>
          <a:prstGeom prst="rect">
            <a:avLst/>
          </a:prstGeom>
          <a:solidFill>
            <a:srgbClr val="000000">
              <a:alpha val="69804"/>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7F51B3F-5638-E324-DB01-8AB77DE7FDB1}"/>
              </a:ext>
            </a:extLst>
          </p:cNvPr>
          <p:cNvSpPr txBox="1"/>
          <p:nvPr/>
        </p:nvSpPr>
        <p:spPr>
          <a:xfrm>
            <a:off x="2594918" y="3029575"/>
            <a:ext cx="6655407" cy="1446550"/>
          </a:xfrm>
          <a:prstGeom prst="rect">
            <a:avLst/>
          </a:prstGeom>
          <a:solidFill>
            <a:schemeClr val="tx1">
              <a:alpha val="80000"/>
            </a:schemeClr>
          </a:solidFill>
          <a:ln>
            <a:noFill/>
          </a:ln>
        </p:spPr>
        <p:txBody>
          <a:bodyPr wrap="square" rtlCol="0">
            <a:spAutoFit/>
          </a:bodyPr>
          <a:lstStyle/>
          <a:p>
            <a:pPr algn="ctr"/>
            <a:r>
              <a:rPr lang="en-US" sz="8800" dirty="0">
                <a:solidFill>
                  <a:schemeClr val="bg1"/>
                </a:solidFill>
              </a:rPr>
              <a:t>de    bugging</a:t>
            </a:r>
          </a:p>
        </p:txBody>
      </p:sp>
      <p:sp>
        <p:nvSpPr>
          <p:cNvPr id="3" name="Rectangle 2">
            <a:extLst>
              <a:ext uri="{FF2B5EF4-FFF2-40B4-BE49-F238E27FC236}">
                <a16:creationId xmlns:a16="http://schemas.microsoft.com/office/drawing/2014/main" id="{851F340F-8368-1BA3-1357-A8FC03DC5ED7}"/>
              </a:ext>
            </a:extLst>
          </p:cNvPr>
          <p:cNvSpPr/>
          <p:nvPr/>
        </p:nvSpPr>
        <p:spPr>
          <a:xfrm>
            <a:off x="5134327" y="3060769"/>
            <a:ext cx="1883161" cy="1446550"/>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BE99539-CD2E-4C02-70A9-052DC672125A}"/>
              </a:ext>
            </a:extLst>
          </p:cNvPr>
          <p:cNvSpPr/>
          <p:nvPr/>
        </p:nvSpPr>
        <p:spPr>
          <a:xfrm>
            <a:off x="2594919" y="3060769"/>
            <a:ext cx="1434822" cy="1446550"/>
          </a:xfrm>
          <a:prstGeom prst="rect">
            <a:avLst/>
          </a:prstGeom>
          <a:noFill/>
          <a:ln w="5715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B7995AA-8411-5238-8BF9-BCB214F6298D}"/>
              </a:ext>
            </a:extLst>
          </p:cNvPr>
          <p:cNvSpPr txBox="1"/>
          <p:nvPr/>
        </p:nvSpPr>
        <p:spPr>
          <a:xfrm>
            <a:off x="2594918" y="4699392"/>
            <a:ext cx="4339650" cy="646331"/>
          </a:xfrm>
          <a:prstGeom prst="rect">
            <a:avLst/>
          </a:prstGeom>
          <a:noFill/>
        </p:spPr>
        <p:txBody>
          <a:bodyPr wrap="none" rtlCol="0">
            <a:spAutoFit/>
          </a:bodyPr>
          <a:lstStyle/>
          <a:p>
            <a:r>
              <a:rPr lang="en-US" sz="3600" dirty="0">
                <a:solidFill>
                  <a:schemeClr val="bg1"/>
                </a:solidFill>
              </a:rPr>
              <a:t>aka. removing bugs </a:t>
            </a:r>
          </a:p>
        </p:txBody>
      </p:sp>
      <p:sp>
        <p:nvSpPr>
          <p:cNvPr id="10" name="TextBox 9">
            <a:extLst>
              <a:ext uri="{FF2B5EF4-FFF2-40B4-BE49-F238E27FC236}">
                <a16:creationId xmlns:a16="http://schemas.microsoft.com/office/drawing/2014/main" id="{5B58338F-6ABC-ACAF-0D23-F3ED01263320}"/>
              </a:ext>
            </a:extLst>
          </p:cNvPr>
          <p:cNvSpPr txBox="1"/>
          <p:nvPr/>
        </p:nvSpPr>
        <p:spPr>
          <a:xfrm>
            <a:off x="6996810" y="12418005"/>
            <a:ext cx="3903633" cy="646331"/>
          </a:xfrm>
          <a:prstGeom prst="rect">
            <a:avLst/>
          </a:prstGeom>
          <a:noFill/>
        </p:spPr>
        <p:txBody>
          <a:bodyPr wrap="none" rtlCol="0">
            <a:spAutoFit/>
          </a:bodyPr>
          <a:lstStyle/>
          <a:p>
            <a:pPr algn="ctr"/>
            <a:r>
              <a:rPr lang="en-US" sz="3600" dirty="0">
                <a:solidFill>
                  <a:schemeClr val="bg1"/>
                </a:solidFill>
              </a:rPr>
              <a:t>aka. programming</a:t>
            </a:r>
          </a:p>
        </p:txBody>
      </p:sp>
      <p:sp>
        <p:nvSpPr>
          <p:cNvPr id="2" name="TextBox 1">
            <a:extLst>
              <a:ext uri="{FF2B5EF4-FFF2-40B4-BE49-F238E27FC236}">
                <a16:creationId xmlns:a16="http://schemas.microsoft.com/office/drawing/2014/main" id="{9C1971E0-AE26-F323-DE20-EF816E24D5E9}"/>
              </a:ext>
            </a:extLst>
          </p:cNvPr>
          <p:cNvSpPr txBox="1"/>
          <p:nvPr/>
        </p:nvSpPr>
        <p:spPr>
          <a:xfrm>
            <a:off x="2594918" y="5345723"/>
            <a:ext cx="3903633" cy="646331"/>
          </a:xfrm>
          <a:prstGeom prst="rect">
            <a:avLst/>
          </a:prstGeom>
          <a:noFill/>
        </p:spPr>
        <p:txBody>
          <a:bodyPr wrap="none" rtlCol="0">
            <a:spAutoFit/>
          </a:bodyPr>
          <a:lstStyle/>
          <a:p>
            <a:pPr algn="ctr"/>
            <a:r>
              <a:rPr lang="en-US" sz="3600" dirty="0">
                <a:solidFill>
                  <a:schemeClr val="bg1"/>
                </a:solidFill>
              </a:rPr>
              <a:t>aka. programming</a:t>
            </a:r>
          </a:p>
        </p:txBody>
      </p:sp>
    </p:spTree>
    <p:extLst>
      <p:ext uri="{BB962C8B-B14F-4D97-AF65-F5344CB8AC3E}">
        <p14:creationId xmlns:p14="http://schemas.microsoft.com/office/powerpoint/2010/main" val="5532116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AFC9F-EEB2-6AA8-762A-AC8FBEAAB1DC}"/>
              </a:ext>
            </a:extLst>
          </p:cNvPr>
          <p:cNvSpPr>
            <a:spLocks noGrp="1"/>
          </p:cNvSpPr>
          <p:nvPr>
            <p:ph type="title"/>
          </p:nvPr>
        </p:nvSpPr>
        <p:spPr/>
        <p:txBody>
          <a:bodyPr/>
          <a:lstStyle/>
          <a:p>
            <a:r>
              <a:rPr lang="en-US" dirty="0"/>
              <a:t>Working with Bugs</a:t>
            </a:r>
          </a:p>
        </p:txBody>
      </p:sp>
      <p:sp>
        <p:nvSpPr>
          <p:cNvPr id="3" name="Content Placeholder 2">
            <a:extLst>
              <a:ext uri="{FF2B5EF4-FFF2-40B4-BE49-F238E27FC236}">
                <a16:creationId xmlns:a16="http://schemas.microsoft.com/office/drawing/2014/main" id="{53C00825-7916-2F65-F25C-12A8459A346E}"/>
              </a:ext>
            </a:extLst>
          </p:cNvPr>
          <p:cNvSpPr>
            <a:spLocks noGrp="1"/>
          </p:cNvSpPr>
          <p:nvPr>
            <p:ph idx="1"/>
          </p:nvPr>
        </p:nvSpPr>
        <p:spPr>
          <a:xfrm>
            <a:off x="609600" y="1794618"/>
            <a:ext cx="10972800" cy="4115116"/>
          </a:xfrm>
        </p:spPr>
        <p:txBody>
          <a:bodyPr>
            <a:normAutofit/>
          </a:bodyPr>
          <a:lstStyle/>
          <a:p>
            <a:pPr marL="514350" indent="-514350">
              <a:buFont typeface="+mj-lt"/>
              <a:buAutoNum type="arabicPeriod"/>
            </a:pPr>
            <a:r>
              <a:rPr lang="en-US" dirty="0"/>
              <a:t>Understand the Problem</a:t>
            </a:r>
          </a:p>
          <a:p>
            <a:pPr marL="514350" indent="-514350">
              <a:buFont typeface="+mj-lt"/>
              <a:buAutoNum type="arabicPeriod"/>
            </a:pPr>
            <a:r>
              <a:rPr lang="en-US" dirty="0"/>
              <a:t>Write &amp; Run Unit Tests</a:t>
            </a:r>
          </a:p>
          <a:p>
            <a:pPr marL="514350" indent="-514350">
              <a:buFont typeface="+mj-lt"/>
              <a:buAutoNum type="arabicPeriod"/>
            </a:pPr>
            <a:r>
              <a:rPr lang="en-US" dirty="0"/>
              <a:t>Isolate the Problem for the wider application</a:t>
            </a:r>
          </a:p>
          <a:p>
            <a:pPr marL="514350" indent="-514350">
              <a:buFont typeface="+mj-lt"/>
              <a:buAutoNum type="arabicPeriod"/>
            </a:pPr>
            <a:r>
              <a:rPr lang="en-US" dirty="0"/>
              <a:t>Use a variety of Debugging Tools</a:t>
            </a:r>
          </a:p>
          <a:p>
            <a:pPr marL="514350" indent="-514350">
              <a:buFont typeface="+mj-lt"/>
              <a:buAutoNum type="arabicPeriod"/>
            </a:pPr>
            <a:r>
              <a:rPr lang="en-US" dirty="0"/>
              <a:t>Correct the bug</a:t>
            </a:r>
          </a:p>
          <a:p>
            <a:pPr marL="514350" indent="-514350">
              <a:buFont typeface="+mj-lt"/>
              <a:buAutoNum type="arabicPeriod"/>
            </a:pPr>
            <a:r>
              <a:rPr lang="en-US" dirty="0"/>
              <a:t>Verify the Stability of the Fix</a:t>
            </a:r>
          </a:p>
          <a:p>
            <a:pPr marL="514350" indent="-514350">
              <a:buFont typeface="+mj-lt"/>
              <a:buAutoNum type="arabicPeriod"/>
            </a:pPr>
            <a:r>
              <a:rPr lang="en-US" dirty="0"/>
              <a:t>Document the Solution</a:t>
            </a:r>
          </a:p>
        </p:txBody>
      </p:sp>
    </p:spTree>
    <p:extLst>
      <p:ext uri="{BB962C8B-B14F-4D97-AF65-F5344CB8AC3E}">
        <p14:creationId xmlns:p14="http://schemas.microsoft.com/office/powerpoint/2010/main" val="3307201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53C45-6BA3-8F86-B7B9-0FD424B4DFD8}"/>
              </a:ext>
            </a:extLst>
          </p:cNvPr>
          <p:cNvSpPr>
            <a:spLocks noGrp="1"/>
          </p:cNvSpPr>
          <p:nvPr>
            <p:ph type="title"/>
          </p:nvPr>
        </p:nvSpPr>
        <p:spPr/>
        <p:txBody>
          <a:bodyPr/>
          <a:lstStyle/>
          <a:p>
            <a:r>
              <a:rPr lang="en-US" dirty="0"/>
              <a:t>Hot take</a:t>
            </a:r>
          </a:p>
        </p:txBody>
      </p:sp>
      <p:sp>
        <p:nvSpPr>
          <p:cNvPr id="3" name="Content Placeholder 2">
            <a:extLst>
              <a:ext uri="{FF2B5EF4-FFF2-40B4-BE49-F238E27FC236}">
                <a16:creationId xmlns:a16="http://schemas.microsoft.com/office/drawing/2014/main" id="{07BAA0F8-665F-3C99-39EF-C8C232526A66}"/>
              </a:ext>
            </a:extLst>
          </p:cNvPr>
          <p:cNvSpPr>
            <a:spLocks noGrp="1"/>
          </p:cNvSpPr>
          <p:nvPr>
            <p:ph idx="1"/>
          </p:nvPr>
        </p:nvSpPr>
        <p:spPr/>
        <p:txBody>
          <a:bodyPr/>
          <a:lstStyle/>
          <a:p>
            <a:r>
              <a:rPr lang="en-US" dirty="0"/>
              <a:t>The humble </a:t>
            </a:r>
            <a:r>
              <a:rPr lang="en-US" b="1" dirty="0"/>
              <a:t>print</a:t>
            </a:r>
            <a:r>
              <a:rPr lang="en-US" dirty="0"/>
              <a:t> statement is also a debugger</a:t>
            </a:r>
          </a:p>
          <a:p>
            <a:pPr marL="0" indent="0">
              <a:buNone/>
            </a:pPr>
            <a:endParaRPr lang="en-US" dirty="0"/>
          </a:p>
        </p:txBody>
      </p:sp>
      <p:pic>
        <p:nvPicPr>
          <p:cNvPr id="3076" name="Picture 4" descr="Sight Words Fly Swat | Sight Words: Teach Your Child to Read">
            <a:extLst>
              <a:ext uri="{FF2B5EF4-FFF2-40B4-BE49-F238E27FC236}">
                <a16:creationId xmlns:a16="http://schemas.microsoft.com/office/drawing/2014/main" id="{DAF1198E-D984-F75E-9FAE-2FEC332976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8707" y="3658363"/>
            <a:ext cx="4762500" cy="29464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C7DCBDB-5555-76ED-0449-43006940A736}"/>
              </a:ext>
            </a:extLst>
          </p:cNvPr>
          <p:cNvSpPr txBox="1"/>
          <p:nvPr/>
        </p:nvSpPr>
        <p:spPr>
          <a:xfrm>
            <a:off x="1031631" y="2704689"/>
            <a:ext cx="7408985" cy="1200329"/>
          </a:xfrm>
          <a:prstGeom prst="rect">
            <a:avLst/>
          </a:prstGeom>
          <a:solidFill>
            <a:srgbClr val="000000">
              <a:alpha val="50196"/>
            </a:srgbClr>
          </a:solidFill>
        </p:spPr>
        <p:txBody>
          <a:bodyPr wrap="square">
            <a:spAutoFit/>
          </a:bodyPr>
          <a:lstStyle/>
          <a:p>
            <a:pPr algn="l" fontAlgn="base"/>
            <a:r>
              <a:rPr lang="en-AU" sz="2400" b="0" i="0" dirty="0">
                <a:solidFill>
                  <a:schemeClr val="bg1"/>
                </a:solidFill>
                <a:effectLst/>
                <a:latin typeface="inherit"/>
              </a:rPr>
              <a:t>No lesser than </a:t>
            </a:r>
            <a:r>
              <a:rPr lang="en-AU" sz="2400" b="1" i="0" u="sng" dirty="0">
                <a:solidFill>
                  <a:schemeClr val="bg1"/>
                </a:solidFill>
                <a:effectLst/>
                <a:latin typeface="inherit"/>
              </a:rPr>
              <a:t>Guido van Rossum </a:t>
            </a:r>
            <a:r>
              <a:rPr lang="en-AU" sz="2400" b="0" i="0" dirty="0">
                <a:solidFill>
                  <a:schemeClr val="bg1"/>
                </a:solidFill>
                <a:effectLst/>
                <a:latin typeface="inherit"/>
              </a:rPr>
              <a:t>himself has been quoted as saying that he uses print statements for 90% of his debugging.</a:t>
            </a:r>
          </a:p>
        </p:txBody>
      </p:sp>
    </p:spTree>
    <p:extLst>
      <p:ext uri="{BB962C8B-B14F-4D97-AF65-F5344CB8AC3E}">
        <p14:creationId xmlns:p14="http://schemas.microsoft.com/office/powerpoint/2010/main" val="4106025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06801-F80E-95F1-EF8B-92FC851B0504}"/>
              </a:ext>
            </a:extLst>
          </p:cNvPr>
          <p:cNvSpPr>
            <a:spLocks noGrp="1"/>
          </p:cNvSpPr>
          <p:nvPr>
            <p:ph type="title"/>
          </p:nvPr>
        </p:nvSpPr>
        <p:spPr/>
        <p:txBody>
          <a:bodyPr/>
          <a:lstStyle/>
          <a:p>
            <a:r>
              <a:rPr lang="en-US" dirty="0"/>
              <a:t>Python debugging tools</a:t>
            </a:r>
          </a:p>
        </p:txBody>
      </p:sp>
      <p:graphicFrame>
        <p:nvGraphicFramePr>
          <p:cNvPr id="4" name="Table 4">
            <a:extLst>
              <a:ext uri="{FF2B5EF4-FFF2-40B4-BE49-F238E27FC236}">
                <a16:creationId xmlns:a16="http://schemas.microsoft.com/office/drawing/2014/main" id="{7203ED5D-CF8F-B3A6-2CEA-7F4079CBA44D}"/>
              </a:ext>
            </a:extLst>
          </p:cNvPr>
          <p:cNvGraphicFramePr>
            <a:graphicFrameLocks noGrp="1"/>
          </p:cNvGraphicFramePr>
          <p:nvPr>
            <p:ph idx="1"/>
            <p:extLst>
              <p:ext uri="{D42A27DB-BD31-4B8C-83A1-F6EECF244321}">
                <p14:modId xmlns:p14="http://schemas.microsoft.com/office/powerpoint/2010/main" val="4136787545"/>
              </p:ext>
            </p:extLst>
          </p:nvPr>
        </p:nvGraphicFramePr>
        <p:xfrm>
          <a:off x="609600" y="1793875"/>
          <a:ext cx="10972800" cy="43027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120194647"/>
                    </a:ext>
                  </a:extLst>
                </a:gridCol>
                <a:gridCol w="2743200">
                  <a:extLst>
                    <a:ext uri="{9D8B030D-6E8A-4147-A177-3AD203B41FA5}">
                      <a16:colId xmlns:a16="http://schemas.microsoft.com/office/drawing/2014/main" val="2420781830"/>
                    </a:ext>
                  </a:extLst>
                </a:gridCol>
                <a:gridCol w="2743200">
                  <a:extLst>
                    <a:ext uri="{9D8B030D-6E8A-4147-A177-3AD203B41FA5}">
                      <a16:colId xmlns:a16="http://schemas.microsoft.com/office/drawing/2014/main" val="605571559"/>
                    </a:ext>
                  </a:extLst>
                </a:gridCol>
                <a:gridCol w="2743200">
                  <a:extLst>
                    <a:ext uri="{9D8B030D-6E8A-4147-A177-3AD203B41FA5}">
                      <a16:colId xmlns:a16="http://schemas.microsoft.com/office/drawing/2014/main" val="1054479810"/>
                    </a:ext>
                  </a:extLst>
                </a:gridCol>
              </a:tblGrid>
              <a:tr h="370840">
                <a:tc>
                  <a:txBody>
                    <a:bodyPr/>
                    <a:lstStyle/>
                    <a:p>
                      <a:pPr fontAlgn="b"/>
                      <a:r>
                        <a:rPr lang="en-AU" b="1" dirty="0">
                          <a:solidFill>
                            <a:schemeClr val="bg1"/>
                          </a:solidFill>
                          <a:effectLst/>
                        </a:rPr>
                        <a:t>Tool</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fontAlgn="b"/>
                      <a:r>
                        <a:rPr lang="en-AU" b="1">
                          <a:solidFill>
                            <a:schemeClr val="bg1"/>
                          </a:solidFill>
                          <a:effectLst/>
                        </a:rPr>
                        <a:t>Description</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fontAlgn="b"/>
                      <a:r>
                        <a:rPr lang="en-AU" b="1">
                          <a:solidFill>
                            <a:schemeClr val="bg1"/>
                          </a:solidFill>
                          <a:effectLst/>
                        </a:rPr>
                        <a:t>Pros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fontAlgn="b"/>
                      <a:r>
                        <a:rPr lang="en-AU" b="1">
                          <a:solidFill>
                            <a:schemeClr val="bg1"/>
                          </a:solidFill>
                          <a:effectLst/>
                        </a:rPr>
                        <a:t>Cons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extLst>
                  <a:ext uri="{0D108BD9-81ED-4DB2-BD59-A6C34878D82A}">
                    <a16:rowId xmlns:a16="http://schemas.microsoft.com/office/drawing/2014/main" val="4064257507"/>
                  </a:ext>
                </a:extLst>
              </a:tr>
              <a:tr h="370840">
                <a:tc>
                  <a:txBody>
                    <a:bodyPr/>
                    <a:lstStyle/>
                    <a:p>
                      <a:pPr fontAlgn="base"/>
                      <a:r>
                        <a:rPr lang="en-AU" b="1">
                          <a:solidFill>
                            <a:schemeClr val="bg1"/>
                          </a:solidFill>
                          <a:effectLst/>
                        </a:rPr>
                        <a:t>Print Statements</a:t>
                      </a:r>
                      <a:endParaRPr lang="en-AU">
                        <a:solidFill>
                          <a:schemeClr val="bg1"/>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fontAlgn="base"/>
                      <a:r>
                        <a:rPr lang="en-AU" dirty="0">
                          <a:solidFill>
                            <a:schemeClr val="bg1"/>
                          </a:solidFill>
                          <a:effectLst/>
                        </a:rPr>
                        <a:t>display variable values or flow.</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fontAlgn="base"/>
                      <a:r>
                        <a:rPr lang="en-AU" dirty="0">
                          <a:solidFill>
                            <a:schemeClr val="bg1"/>
                          </a:solidFill>
                          <a:effectLst/>
                        </a:rPr>
                        <a:t>No setup required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marL="285750" indent="-285750" fontAlgn="base">
                        <a:buFont typeface="Arial" panose="020B0604020202020204" pitchFamily="34" charset="0"/>
                        <a:buChar char="•"/>
                      </a:pPr>
                      <a:r>
                        <a:rPr lang="en-AU" dirty="0">
                          <a:solidFill>
                            <a:schemeClr val="bg1"/>
                          </a:solidFill>
                          <a:effectLst/>
                        </a:rPr>
                        <a:t>Manual</a:t>
                      </a:r>
                    </a:p>
                    <a:p>
                      <a:pPr marL="285750" indent="-285750" fontAlgn="base">
                        <a:buFont typeface="Arial" panose="020B0604020202020204" pitchFamily="34" charset="0"/>
                        <a:buChar char="•"/>
                      </a:pPr>
                      <a:r>
                        <a:rPr lang="en-AU" dirty="0">
                          <a:solidFill>
                            <a:schemeClr val="bg1"/>
                          </a:solidFill>
                          <a:effectLst/>
                        </a:rPr>
                        <a:t>Clutters code</a:t>
                      </a:r>
                    </a:p>
                    <a:p>
                      <a:pPr marL="285750" indent="-285750" fontAlgn="base">
                        <a:buFont typeface="Arial" panose="020B0604020202020204" pitchFamily="34" charset="0"/>
                        <a:buChar char="•"/>
                      </a:pPr>
                      <a:r>
                        <a:rPr lang="en-AU" dirty="0">
                          <a:solidFill>
                            <a:schemeClr val="bg1"/>
                          </a:solidFill>
                          <a:effectLst/>
                        </a:rPr>
                        <a:t>Not efficient for complex issues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97415085"/>
                  </a:ext>
                </a:extLst>
              </a:tr>
              <a:tr h="370840">
                <a:tc>
                  <a:txBody>
                    <a:bodyPr/>
                    <a:lstStyle/>
                    <a:p>
                      <a:pPr fontAlgn="base"/>
                      <a:r>
                        <a:rPr lang="en-AU" b="1">
                          <a:solidFill>
                            <a:schemeClr val="bg1"/>
                          </a:solidFill>
                          <a:effectLst/>
                        </a:rPr>
                        <a:t>pdb (Python Debugger)</a:t>
                      </a:r>
                      <a:endParaRPr lang="en-AU">
                        <a:solidFill>
                          <a:schemeClr val="bg1"/>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fontAlgn="base"/>
                      <a:r>
                        <a:rPr lang="en-AU" dirty="0">
                          <a:solidFill>
                            <a:schemeClr val="bg1"/>
                          </a:solidFill>
                          <a:effectLst/>
                        </a:rPr>
                        <a:t>Built-in interactive cli tool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fontAlgn="base"/>
                      <a:r>
                        <a:rPr lang="en-AU" dirty="0">
                          <a:solidFill>
                            <a:schemeClr val="bg1"/>
                          </a:solidFill>
                          <a:effectLst/>
                        </a:rPr>
                        <a:t>inspect variables and control execution, directly on the server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marL="285750" indent="-285750" fontAlgn="base">
                        <a:buFont typeface="Arial" panose="020B0604020202020204" pitchFamily="34" charset="0"/>
                        <a:buChar char="•"/>
                      </a:pPr>
                      <a:r>
                        <a:rPr lang="en-AU" dirty="0">
                          <a:solidFill>
                            <a:schemeClr val="bg1"/>
                          </a:solidFill>
                          <a:effectLst/>
                        </a:rPr>
                        <a:t>CLI based, </a:t>
                      </a:r>
                    </a:p>
                    <a:p>
                      <a:pPr marL="285750" indent="-285750" fontAlgn="base">
                        <a:buFont typeface="Arial" panose="020B0604020202020204" pitchFamily="34" charset="0"/>
                        <a:buChar char="•"/>
                      </a:pPr>
                      <a:r>
                        <a:rPr lang="en-AU" dirty="0">
                          <a:solidFill>
                            <a:schemeClr val="bg1"/>
                          </a:solidFill>
                          <a:effectLst/>
                        </a:rPr>
                        <a:t>steep learning curve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extLst>
                  <a:ext uri="{0D108BD9-81ED-4DB2-BD59-A6C34878D82A}">
                    <a16:rowId xmlns:a16="http://schemas.microsoft.com/office/drawing/2014/main" val="935714576"/>
                  </a:ext>
                </a:extLst>
              </a:tr>
              <a:tr h="370840">
                <a:tc>
                  <a:txBody>
                    <a:bodyPr/>
                    <a:lstStyle/>
                    <a:p>
                      <a:pPr fontAlgn="base"/>
                      <a:r>
                        <a:rPr lang="en-AU" b="1">
                          <a:solidFill>
                            <a:schemeClr val="bg1"/>
                          </a:solidFill>
                          <a:effectLst/>
                        </a:rPr>
                        <a:t>python -i</a:t>
                      </a:r>
                      <a:endParaRPr lang="en-AU">
                        <a:solidFill>
                          <a:schemeClr val="bg1"/>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fontAlgn="base"/>
                      <a:r>
                        <a:rPr lang="en-AU" dirty="0">
                          <a:solidFill>
                            <a:schemeClr val="bg1"/>
                          </a:solidFill>
                          <a:effectLst/>
                        </a:rPr>
                        <a:t>Starts the Python interpreter after script execution.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fontAlgn="base"/>
                      <a:r>
                        <a:rPr lang="en-AU" dirty="0">
                          <a:solidFill>
                            <a:schemeClr val="bg1"/>
                          </a:solidFill>
                          <a:effectLst/>
                        </a:rPr>
                        <a:t>immediate interaction with final state of script variables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marL="285750" indent="-285750" fontAlgn="base">
                        <a:buFont typeface="Arial" panose="020B0604020202020204" pitchFamily="34" charset="0"/>
                        <a:buChar char="•"/>
                      </a:pPr>
                      <a:r>
                        <a:rPr lang="en-AU" dirty="0">
                          <a:solidFill>
                            <a:schemeClr val="bg1"/>
                          </a:solidFill>
                          <a:effectLst/>
                        </a:rPr>
                        <a:t>only useful for post-execution state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extLst>
                  <a:ext uri="{0D108BD9-81ED-4DB2-BD59-A6C34878D82A}">
                    <a16:rowId xmlns:a16="http://schemas.microsoft.com/office/drawing/2014/main" val="2866047082"/>
                  </a:ext>
                </a:extLst>
              </a:tr>
              <a:tr h="370840">
                <a:tc>
                  <a:txBody>
                    <a:bodyPr/>
                    <a:lstStyle/>
                    <a:p>
                      <a:pPr fontAlgn="base"/>
                      <a:r>
                        <a:rPr lang="en-AU" b="1">
                          <a:solidFill>
                            <a:schemeClr val="bg1"/>
                          </a:solidFill>
                          <a:effectLst/>
                        </a:rPr>
                        <a:t>IDE-based Tools (e.g., PyCharm)</a:t>
                      </a:r>
                      <a:endParaRPr lang="en-AU">
                        <a:solidFill>
                          <a:schemeClr val="bg1"/>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fontAlgn="base"/>
                      <a:r>
                        <a:rPr lang="en-AU">
                          <a:solidFill>
                            <a:schemeClr val="bg1"/>
                          </a:solidFill>
                          <a:effectLst/>
                        </a:rPr>
                        <a:t>Integrated tools in an IDE designed for debugging.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fontAlgn="base"/>
                      <a:r>
                        <a:rPr lang="en-AU" dirty="0">
                          <a:solidFill>
                            <a:schemeClr val="bg1"/>
                          </a:solidFill>
                          <a:effectLst/>
                        </a:rPr>
                        <a:t>advanced features like conditional breakpoints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marL="285750" indent="-285750" fontAlgn="base">
                        <a:buFont typeface="Arial" panose="020B0604020202020204" pitchFamily="34" charset="0"/>
                        <a:buChar char="•"/>
                      </a:pPr>
                      <a:r>
                        <a:rPr lang="en-AU" dirty="0">
                          <a:solidFill>
                            <a:schemeClr val="bg1"/>
                          </a:solidFill>
                          <a:effectLst/>
                        </a:rPr>
                        <a:t>requires configuration</a:t>
                      </a:r>
                      <a:br>
                        <a:rPr lang="en-AU" dirty="0">
                          <a:solidFill>
                            <a:schemeClr val="bg1"/>
                          </a:solidFill>
                          <a:effectLst/>
                        </a:rPr>
                      </a:br>
                      <a:endParaRPr lang="en-AU" dirty="0">
                        <a:solidFill>
                          <a:schemeClr val="bg1"/>
                        </a:solidFill>
                        <a:effectLst/>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extLst>
                  <a:ext uri="{0D108BD9-81ED-4DB2-BD59-A6C34878D82A}">
                    <a16:rowId xmlns:a16="http://schemas.microsoft.com/office/drawing/2014/main" val="3315308827"/>
                  </a:ext>
                </a:extLst>
              </a:tr>
            </a:tbl>
          </a:graphicData>
        </a:graphic>
      </p:graphicFrame>
    </p:spTree>
    <p:extLst>
      <p:ext uri="{BB962C8B-B14F-4D97-AF65-F5344CB8AC3E}">
        <p14:creationId xmlns:p14="http://schemas.microsoft.com/office/powerpoint/2010/main" val="2120090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AFC9F-EEB2-6AA8-762A-AC8FBEAAB1DC}"/>
              </a:ext>
            </a:extLst>
          </p:cNvPr>
          <p:cNvSpPr>
            <a:spLocks noGrp="1"/>
          </p:cNvSpPr>
          <p:nvPr>
            <p:ph type="title"/>
          </p:nvPr>
        </p:nvSpPr>
        <p:spPr/>
        <p:txBody>
          <a:bodyPr/>
          <a:lstStyle/>
          <a:p>
            <a:r>
              <a:rPr lang="en-US" dirty="0"/>
              <a:t>Debugger workflow</a:t>
            </a:r>
          </a:p>
        </p:txBody>
      </p:sp>
      <p:sp>
        <p:nvSpPr>
          <p:cNvPr id="3" name="Content Placeholder 2">
            <a:extLst>
              <a:ext uri="{FF2B5EF4-FFF2-40B4-BE49-F238E27FC236}">
                <a16:creationId xmlns:a16="http://schemas.microsoft.com/office/drawing/2014/main" id="{53C00825-7916-2F65-F25C-12A8459A346E}"/>
              </a:ext>
            </a:extLst>
          </p:cNvPr>
          <p:cNvSpPr>
            <a:spLocks noGrp="1"/>
          </p:cNvSpPr>
          <p:nvPr>
            <p:ph idx="1"/>
          </p:nvPr>
        </p:nvSpPr>
        <p:spPr/>
        <p:txBody>
          <a:bodyPr>
            <a:normAutofit/>
          </a:bodyPr>
          <a:lstStyle/>
          <a:p>
            <a:pPr marL="514350" indent="-514350">
              <a:buFont typeface="+mj-lt"/>
              <a:buAutoNum type="arabicPeriod"/>
            </a:pPr>
            <a:r>
              <a:rPr lang="en-US" b="1" dirty="0"/>
              <a:t>Set a breakpoint</a:t>
            </a:r>
            <a:r>
              <a:rPr lang="en-US" dirty="0"/>
              <a:t>: where do you want execution to pause</a:t>
            </a:r>
          </a:p>
          <a:p>
            <a:pPr marL="514350" indent="-514350">
              <a:buFont typeface="+mj-lt"/>
              <a:buAutoNum type="arabicPeriod"/>
            </a:pPr>
            <a:r>
              <a:rPr lang="en-US" dirty="0"/>
              <a:t>Manually </a:t>
            </a:r>
            <a:r>
              <a:rPr lang="en-US" b="1" dirty="0"/>
              <a:t>step through the code </a:t>
            </a:r>
            <a:r>
              <a:rPr lang="en-US" dirty="0"/>
              <a:t>using the debugger (proceed to the next line after the breakpoint when you are ready)</a:t>
            </a:r>
          </a:p>
          <a:p>
            <a:pPr marL="514350" indent="-514350">
              <a:buFont typeface="+mj-lt"/>
              <a:buAutoNum type="arabicPeriod"/>
            </a:pPr>
            <a:r>
              <a:rPr lang="en-US" b="1" dirty="0"/>
              <a:t>Inspect</a:t>
            </a:r>
            <a:r>
              <a:rPr lang="en-US" dirty="0"/>
              <a:t> local variables, global variables, and the call stack</a:t>
            </a:r>
          </a:p>
          <a:p>
            <a:pPr marL="514350" indent="-514350">
              <a:buFont typeface="+mj-lt"/>
              <a:buAutoNum type="arabicPeriod"/>
            </a:pPr>
            <a:r>
              <a:rPr lang="en-US" b="1" dirty="0"/>
              <a:t>Run</a:t>
            </a:r>
            <a:r>
              <a:rPr lang="en-US" dirty="0"/>
              <a:t> </a:t>
            </a:r>
            <a:r>
              <a:rPr lang="en-US" b="1" dirty="0"/>
              <a:t>arbitrary statements </a:t>
            </a:r>
            <a:r>
              <a:rPr lang="en-US" dirty="0"/>
              <a:t>within the execution context</a:t>
            </a:r>
          </a:p>
        </p:txBody>
      </p:sp>
    </p:spTree>
    <p:extLst>
      <p:ext uri="{BB962C8B-B14F-4D97-AF65-F5344CB8AC3E}">
        <p14:creationId xmlns:p14="http://schemas.microsoft.com/office/powerpoint/2010/main" val="4086539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DD884-3DC4-F132-29CF-F19173846FCC}"/>
              </a:ext>
            </a:extLst>
          </p:cNvPr>
          <p:cNvSpPr>
            <a:spLocks noGrp="1"/>
          </p:cNvSpPr>
          <p:nvPr>
            <p:ph type="title"/>
          </p:nvPr>
        </p:nvSpPr>
        <p:spPr/>
        <p:txBody>
          <a:bodyPr/>
          <a:lstStyle/>
          <a:p>
            <a:r>
              <a:rPr lang="en-US" dirty="0"/>
              <a:t>Debugger specific</a:t>
            </a:r>
          </a:p>
        </p:txBody>
      </p:sp>
      <p:graphicFrame>
        <p:nvGraphicFramePr>
          <p:cNvPr id="4" name="Table 4">
            <a:extLst>
              <a:ext uri="{FF2B5EF4-FFF2-40B4-BE49-F238E27FC236}">
                <a16:creationId xmlns:a16="http://schemas.microsoft.com/office/drawing/2014/main" id="{41918796-5380-35E8-1365-0D27E7001A4E}"/>
              </a:ext>
            </a:extLst>
          </p:cNvPr>
          <p:cNvGraphicFramePr>
            <a:graphicFrameLocks noGrp="1"/>
          </p:cNvGraphicFramePr>
          <p:nvPr>
            <p:ph idx="1"/>
            <p:extLst>
              <p:ext uri="{D42A27DB-BD31-4B8C-83A1-F6EECF244321}">
                <p14:modId xmlns:p14="http://schemas.microsoft.com/office/powerpoint/2010/main" val="3080920920"/>
              </p:ext>
            </p:extLst>
          </p:nvPr>
        </p:nvGraphicFramePr>
        <p:xfrm>
          <a:off x="609600" y="1793875"/>
          <a:ext cx="10972800" cy="38506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983307375"/>
                    </a:ext>
                  </a:extLst>
                </a:gridCol>
                <a:gridCol w="2743200">
                  <a:extLst>
                    <a:ext uri="{9D8B030D-6E8A-4147-A177-3AD203B41FA5}">
                      <a16:colId xmlns:a16="http://schemas.microsoft.com/office/drawing/2014/main" val="2770784748"/>
                    </a:ext>
                  </a:extLst>
                </a:gridCol>
                <a:gridCol w="2743200">
                  <a:extLst>
                    <a:ext uri="{9D8B030D-6E8A-4147-A177-3AD203B41FA5}">
                      <a16:colId xmlns:a16="http://schemas.microsoft.com/office/drawing/2014/main" val="1624634597"/>
                    </a:ext>
                  </a:extLst>
                </a:gridCol>
                <a:gridCol w="2743200">
                  <a:extLst>
                    <a:ext uri="{9D8B030D-6E8A-4147-A177-3AD203B41FA5}">
                      <a16:colId xmlns:a16="http://schemas.microsoft.com/office/drawing/2014/main" val="172216963"/>
                    </a:ext>
                  </a:extLst>
                </a:gridCol>
              </a:tblGrid>
              <a:tr h="370840">
                <a:tc>
                  <a:txBody>
                    <a:bodyPr/>
                    <a:lstStyle/>
                    <a:p>
                      <a:pPr fontAlgn="b"/>
                      <a:r>
                        <a:rPr lang="en-AU" b="1">
                          <a:effectLst/>
                        </a:rPr>
                        <a:t>Concept</a:t>
                      </a:r>
                    </a:p>
                  </a:txBody>
                  <a:tcPr anchor="b"/>
                </a:tc>
                <a:tc>
                  <a:txBody>
                    <a:bodyPr/>
                    <a:lstStyle/>
                    <a:p>
                      <a:pPr fontAlgn="b"/>
                      <a:r>
                        <a:rPr lang="en-AU" b="1">
                          <a:effectLst/>
                        </a:rPr>
                        <a:t>Brief Overview</a:t>
                      </a:r>
                    </a:p>
                  </a:txBody>
                  <a:tcPr anchor="b"/>
                </a:tc>
                <a:tc>
                  <a:txBody>
                    <a:bodyPr/>
                    <a:lstStyle/>
                    <a:p>
                      <a:pPr fontAlgn="b"/>
                      <a:r>
                        <a:rPr lang="en-AU" b="1">
                          <a:effectLst/>
                        </a:rPr>
                        <a:t>PDB Command</a:t>
                      </a:r>
                    </a:p>
                  </a:txBody>
                  <a:tcPr anchor="b"/>
                </a:tc>
                <a:tc>
                  <a:txBody>
                    <a:bodyPr/>
                    <a:lstStyle/>
                    <a:p>
                      <a:pPr fontAlgn="b"/>
                      <a:r>
                        <a:rPr lang="en-AU" b="1">
                          <a:effectLst/>
                        </a:rPr>
                        <a:t>PyCharm Debugger (Keyboard Shortcut)</a:t>
                      </a:r>
                    </a:p>
                  </a:txBody>
                  <a:tcPr anchor="b"/>
                </a:tc>
                <a:extLst>
                  <a:ext uri="{0D108BD9-81ED-4DB2-BD59-A6C34878D82A}">
                    <a16:rowId xmlns:a16="http://schemas.microsoft.com/office/drawing/2014/main" val="2543574852"/>
                  </a:ext>
                </a:extLst>
              </a:tr>
              <a:tr h="370840">
                <a:tc>
                  <a:txBody>
                    <a:bodyPr/>
                    <a:lstStyle/>
                    <a:p>
                      <a:pPr fontAlgn="base"/>
                      <a:r>
                        <a:rPr lang="en-AU" b="1">
                          <a:effectLst/>
                        </a:rPr>
                        <a:t>Step Over</a:t>
                      </a:r>
                      <a:endParaRPr lang="en-AU">
                        <a:effectLst/>
                      </a:endParaRPr>
                    </a:p>
                  </a:txBody>
                  <a:tcPr anchor="ctr"/>
                </a:tc>
                <a:tc>
                  <a:txBody>
                    <a:bodyPr/>
                    <a:lstStyle/>
                    <a:p>
                      <a:pPr fontAlgn="base"/>
                      <a:r>
                        <a:rPr lang="en-AU">
                          <a:effectLst/>
                        </a:rPr>
                        <a:t>Execute the current line of code and stop at the next</a:t>
                      </a:r>
                    </a:p>
                  </a:txBody>
                  <a:tcPr anchor="ctr"/>
                </a:tc>
                <a:tc>
                  <a:txBody>
                    <a:bodyPr/>
                    <a:lstStyle/>
                    <a:p>
                      <a:pPr fontAlgn="base"/>
                      <a:r>
                        <a:rPr lang="en-AU">
                          <a:effectLst/>
                        </a:rPr>
                        <a:t>n or next</a:t>
                      </a:r>
                    </a:p>
                  </a:txBody>
                  <a:tcPr anchor="ctr"/>
                </a:tc>
                <a:tc>
                  <a:txBody>
                    <a:bodyPr/>
                    <a:lstStyle/>
                    <a:p>
                      <a:pPr fontAlgn="base"/>
                      <a:r>
                        <a:rPr lang="en-AU">
                          <a:effectLst/>
                        </a:rPr>
                        <a:t>F8</a:t>
                      </a:r>
                    </a:p>
                  </a:txBody>
                  <a:tcPr anchor="ctr"/>
                </a:tc>
                <a:extLst>
                  <a:ext uri="{0D108BD9-81ED-4DB2-BD59-A6C34878D82A}">
                    <a16:rowId xmlns:a16="http://schemas.microsoft.com/office/drawing/2014/main" val="1776966034"/>
                  </a:ext>
                </a:extLst>
              </a:tr>
              <a:tr h="370840">
                <a:tc>
                  <a:txBody>
                    <a:bodyPr/>
                    <a:lstStyle/>
                    <a:p>
                      <a:pPr fontAlgn="base"/>
                      <a:r>
                        <a:rPr lang="en-AU" b="1">
                          <a:effectLst/>
                        </a:rPr>
                        <a:t>Step Into</a:t>
                      </a:r>
                      <a:endParaRPr lang="en-AU">
                        <a:effectLst/>
                      </a:endParaRPr>
                    </a:p>
                  </a:txBody>
                  <a:tcPr anchor="ctr"/>
                </a:tc>
                <a:tc>
                  <a:txBody>
                    <a:bodyPr/>
                    <a:lstStyle/>
                    <a:p>
                      <a:pPr fontAlgn="base"/>
                      <a:r>
                        <a:rPr lang="en-AU">
                          <a:effectLst/>
                        </a:rPr>
                        <a:t>Delve into the function or method being called</a:t>
                      </a:r>
                    </a:p>
                  </a:txBody>
                  <a:tcPr anchor="ctr"/>
                </a:tc>
                <a:tc>
                  <a:txBody>
                    <a:bodyPr/>
                    <a:lstStyle/>
                    <a:p>
                      <a:pPr fontAlgn="base"/>
                      <a:r>
                        <a:rPr lang="en-AU">
                          <a:effectLst/>
                        </a:rPr>
                        <a:t>s or step</a:t>
                      </a:r>
                    </a:p>
                  </a:txBody>
                  <a:tcPr anchor="ctr"/>
                </a:tc>
                <a:tc>
                  <a:txBody>
                    <a:bodyPr/>
                    <a:lstStyle/>
                    <a:p>
                      <a:pPr fontAlgn="base"/>
                      <a:r>
                        <a:rPr lang="en-AU" dirty="0">
                          <a:effectLst/>
                        </a:rPr>
                        <a:t>F7</a:t>
                      </a:r>
                    </a:p>
                  </a:txBody>
                  <a:tcPr anchor="ctr"/>
                </a:tc>
                <a:extLst>
                  <a:ext uri="{0D108BD9-81ED-4DB2-BD59-A6C34878D82A}">
                    <a16:rowId xmlns:a16="http://schemas.microsoft.com/office/drawing/2014/main" val="2439733961"/>
                  </a:ext>
                </a:extLst>
              </a:tr>
              <a:tr h="370840">
                <a:tc>
                  <a:txBody>
                    <a:bodyPr/>
                    <a:lstStyle/>
                    <a:p>
                      <a:pPr fontAlgn="base"/>
                      <a:r>
                        <a:rPr lang="en-AU" b="1">
                          <a:effectLst/>
                        </a:rPr>
                        <a:t>Step Out</a:t>
                      </a:r>
                      <a:endParaRPr lang="en-AU">
                        <a:effectLst/>
                      </a:endParaRPr>
                    </a:p>
                  </a:txBody>
                  <a:tcPr anchor="ctr"/>
                </a:tc>
                <a:tc>
                  <a:txBody>
                    <a:bodyPr/>
                    <a:lstStyle/>
                    <a:p>
                      <a:pPr fontAlgn="base"/>
                      <a:r>
                        <a:rPr lang="en-AU">
                          <a:effectLst/>
                        </a:rPr>
                        <a:t>Finish the current function and stop at the caller</a:t>
                      </a:r>
                    </a:p>
                  </a:txBody>
                  <a:tcPr anchor="ctr"/>
                </a:tc>
                <a:tc>
                  <a:txBody>
                    <a:bodyPr/>
                    <a:lstStyle/>
                    <a:p>
                      <a:pPr fontAlgn="base"/>
                      <a:r>
                        <a:rPr lang="en-AU">
                          <a:effectLst/>
                        </a:rPr>
                        <a:t>r or return</a:t>
                      </a:r>
                    </a:p>
                  </a:txBody>
                  <a:tcPr anchor="ctr"/>
                </a:tc>
                <a:tc>
                  <a:txBody>
                    <a:bodyPr/>
                    <a:lstStyle/>
                    <a:p>
                      <a:pPr fontAlgn="base"/>
                      <a:r>
                        <a:rPr lang="en-AU">
                          <a:effectLst/>
                        </a:rPr>
                        <a:t>Shift + F8</a:t>
                      </a:r>
                    </a:p>
                  </a:txBody>
                  <a:tcPr anchor="ctr"/>
                </a:tc>
                <a:extLst>
                  <a:ext uri="{0D108BD9-81ED-4DB2-BD59-A6C34878D82A}">
                    <a16:rowId xmlns:a16="http://schemas.microsoft.com/office/drawing/2014/main" val="1579282648"/>
                  </a:ext>
                </a:extLst>
              </a:tr>
              <a:tr h="370840">
                <a:tc>
                  <a:txBody>
                    <a:bodyPr/>
                    <a:lstStyle/>
                    <a:p>
                      <a:pPr fontAlgn="base"/>
                      <a:r>
                        <a:rPr lang="en-AU" b="1">
                          <a:effectLst/>
                        </a:rPr>
                        <a:t>Move Up</a:t>
                      </a:r>
                      <a:endParaRPr lang="en-AU">
                        <a:effectLst/>
                      </a:endParaRPr>
                    </a:p>
                  </a:txBody>
                  <a:tcPr anchor="ctr"/>
                </a:tc>
                <a:tc>
                  <a:txBody>
                    <a:bodyPr/>
                    <a:lstStyle/>
                    <a:p>
                      <a:pPr fontAlgn="base"/>
                      <a:r>
                        <a:rPr lang="en-AU">
                          <a:effectLst/>
                        </a:rPr>
                        <a:t>Go up in the call stack</a:t>
                      </a:r>
                    </a:p>
                  </a:txBody>
                  <a:tcPr anchor="ctr"/>
                </a:tc>
                <a:tc>
                  <a:txBody>
                    <a:bodyPr/>
                    <a:lstStyle/>
                    <a:p>
                      <a:pPr fontAlgn="base"/>
                      <a:r>
                        <a:rPr lang="en-AU">
                          <a:effectLst/>
                        </a:rPr>
                        <a:t>(pdb) up</a:t>
                      </a:r>
                    </a:p>
                  </a:txBody>
                  <a:tcPr anchor="ctr"/>
                </a:tc>
                <a:tc>
                  <a:txBody>
                    <a:bodyPr/>
                    <a:lstStyle/>
                    <a:p>
                      <a:pPr fontAlgn="base"/>
                      <a:r>
                        <a:rPr lang="en-AU">
                          <a:effectLst/>
                        </a:rPr>
                        <a:t>Alt + Shift + Up Arrow</a:t>
                      </a:r>
                    </a:p>
                  </a:txBody>
                  <a:tcPr anchor="ctr"/>
                </a:tc>
                <a:extLst>
                  <a:ext uri="{0D108BD9-81ED-4DB2-BD59-A6C34878D82A}">
                    <a16:rowId xmlns:a16="http://schemas.microsoft.com/office/drawing/2014/main" val="3556636585"/>
                  </a:ext>
                </a:extLst>
              </a:tr>
              <a:tr h="370840">
                <a:tc>
                  <a:txBody>
                    <a:bodyPr/>
                    <a:lstStyle/>
                    <a:p>
                      <a:pPr fontAlgn="base"/>
                      <a:r>
                        <a:rPr lang="en-AU" b="1">
                          <a:effectLst/>
                        </a:rPr>
                        <a:t>Move Down</a:t>
                      </a:r>
                      <a:endParaRPr lang="en-AU">
                        <a:effectLst/>
                      </a:endParaRPr>
                    </a:p>
                  </a:txBody>
                  <a:tcPr anchor="ctr"/>
                </a:tc>
                <a:tc>
                  <a:txBody>
                    <a:bodyPr/>
                    <a:lstStyle/>
                    <a:p>
                      <a:pPr fontAlgn="base"/>
                      <a:r>
                        <a:rPr lang="en-AU">
                          <a:effectLst/>
                        </a:rPr>
                        <a:t>Go down in the call stack</a:t>
                      </a:r>
                    </a:p>
                  </a:txBody>
                  <a:tcPr anchor="ctr"/>
                </a:tc>
                <a:tc>
                  <a:txBody>
                    <a:bodyPr/>
                    <a:lstStyle/>
                    <a:p>
                      <a:pPr fontAlgn="base"/>
                      <a:r>
                        <a:rPr lang="en-AU">
                          <a:effectLst/>
                        </a:rPr>
                        <a:t>(pdb) down</a:t>
                      </a:r>
                    </a:p>
                  </a:txBody>
                  <a:tcPr anchor="ctr"/>
                </a:tc>
                <a:tc>
                  <a:txBody>
                    <a:bodyPr/>
                    <a:lstStyle/>
                    <a:p>
                      <a:pPr fontAlgn="base"/>
                      <a:r>
                        <a:rPr lang="en-AU" dirty="0">
                          <a:effectLst/>
                        </a:rPr>
                        <a:t>Alt + Shift + Down Arrow</a:t>
                      </a:r>
                    </a:p>
                  </a:txBody>
                  <a:tcPr anchor="ctr"/>
                </a:tc>
                <a:extLst>
                  <a:ext uri="{0D108BD9-81ED-4DB2-BD59-A6C34878D82A}">
                    <a16:rowId xmlns:a16="http://schemas.microsoft.com/office/drawing/2014/main" val="781824902"/>
                  </a:ext>
                </a:extLst>
              </a:tr>
            </a:tbl>
          </a:graphicData>
        </a:graphic>
      </p:graphicFrame>
    </p:spTree>
    <p:extLst>
      <p:ext uri="{BB962C8B-B14F-4D97-AF65-F5344CB8AC3E}">
        <p14:creationId xmlns:p14="http://schemas.microsoft.com/office/powerpoint/2010/main" val="2455857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DD884-3DC4-F132-29CF-F19173846FCC}"/>
              </a:ext>
            </a:extLst>
          </p:cNvPr>
          <p:cNvSpPr>
            <a:spLocks noGrp="1"/>
          </p:cNvSpPr>
          <p:nvPr>
            <p:ph type="title"/>
          </p:nvPr>
        </p:nvSpPr>
        <p:spPr/>
        <p:txBody>
          <a:bodyPr/>
          <a:lstStyle/>
          <a:p>
            <a:r>
              <a:rPr lang="en-US" dirty="0"/>
              <a:t>Debugger specific steps (cont.)</a:t>
            </a:r>
          </a:p>
        </p:txBody>
      </p:sp>
      <p:graphicFrame>
        <p:nvGraphicFramePr>
          <p:cNvPr id="4" name="Table 4">
            <a:extLst>
              <a:ext uri="{FF2B5EF4-FFF2-40B4-BE49-F238E27FC236}">
                <a16:creationId xmlns:a16="http://schemas.microsoft.com/office/drawing/2014/main" id="{41918796-5380-35E8-1365-0D27E7001A4E}"/>
              </a:ext>
            </a:extLst>
          </p:cNvPr>
          <p:cNvGraphicFramePr>
            <a:graphicFrameLocks noGrp="1"/>
          </p:cNvGraphicFramePr>
          <p:nvPr>
            <p:ph idx="1"/>
            <p:extLst>
              <p:ext uri="{D42A27DB-BD31-4B8C-83A1-F6EECF244321}">
                <p14:modId xmlns:p14="http://schemas.microsoft.com/office/powerpoint/2010/main" val="322169133"/>
              </p:ext>
            </p:extLst>
          </p:nvPr>
        </p:nvGraphicFramePr>
        <p:xfrm>
          <a:off x="609600" y="1793875"/>
          <a:ext cx="10972800" cy="34747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983307375"/>
                    </a:ext>
                  </a:extLst>
                </a:gridCol>
                <a:gridCol w="2743200">
                  <a:extLst>
                    <a:ext uri="{9D8B030D-6E8A-4147-A177-3AD203B41FA5}">
                      <a16:colId xmlns:a16="http://schemas.microsoft.com/office/drawing/2014/main" val="2770784748"/>
                    </a:ext>
                  </a:extLst>
                </a:gridCol>
                <a:gridCol w="2743200">
                  <a:extLst>
                    <a:ext uri="{9D8B030D-6E8A-4147-A177-3AD203B41FA5}">
                      <a16:colId xmlns:a16="http://schemas.microsoft.com/office/drawing/2014/main" val="1624634597"/>
                    </a:ext>
                  </a:extLst>
                </a:gridCol>
                <a:gridCol w="2743200">
                  <a:extLst>
                    <a:ext uri="{9D8B030D-6E8A-4147-A177-3AD203B41FA5}">
                      <a16:colId xmlns:a16="http://schemas.microsoft.com/office/drawing/2014/main" val="172216963"/>
                    </a:ext>
                  </a:extLst>
                </a:gridCol>
              </a:tblGrid>
              <a:tr h="370840">
                <a:tc>
                  <a:txBody>
                    <a:bodyPr/>
                    <a:lstStyle/>
                    <a:p>
                      <a:pPr fontAlgn="b"/>
                      <a:r>
                        <a:rPr lang="en-AU" b="1">
                          <a:effectLst/>
                        </a:rPr>
                        <a:t>Concept</a:t>
                      </a:r>
                    </a:p>
                  </a:txBody>
                  <a:tcPr anchor="b"/>
                </a:tc>
                <a:tc>
                  <a:txBody>
                    <a:bodyPr/>
                    <a:lstStyle/>
                    <a:p>
                      <a:pPr fontAlgn="b"/>
                      <a:r>
                        <a:rPr lang="en-AU" b="1">
                          <a:effectLst/>
                        </a:rPr>
                        <a:t>Brief Overview</a:t>
                      </a:r>
                    </a:p>
                  </a:txBody>
                  <a:tcPr anchor="b"/>
                </a:tc>
                <a:tc>
                  <a:txBody>
                    <a:bodyPr/>
                    <a:lstStyle/>
                    <a:p>
                      <a:pPr fontAlgn="b"/>
                      <a:r>
                        <a:rPr lang="en-AU" b="1">
                          <a:effectLst/>
                        </a:rPr>
                        <a:t>PDB Command</a:t>
                      </a:r>
                    </a:p>
                  </a:txBody>
                  <a:tcPr anchor="b"/>
                </a:tc>
                <a:tc>
                  <a:txBody>
                    <a:bodyPr/>
                    <a:lstStyle/>
                    <a:p>
                      <a:pPr fontAlgn="b"/>
                      <a:r>
                        <a:rPr lang="en-AU" b="1">
                          <a:effectLst/>
                        </a:rPr>
                        <a:t>PyCharm Debugger (Keyboard Shortcut)</a:t>
                      </a:r>
                    </a:p>
                  </a:txBody>
                  <a:tcPr anchor="b"/>
                </a:tc>
                <a:extLst>
                  <a:ext uri="{0D108BD9-81ED-4DB2-BD59-A6C34878D82A}">
                    <a16:rowId xmlns:a16="http://schemas.microsoft.com/office/drawing/2014/main" val="2543574852"/>
                  </a:ext>
                </a:extLst>
              </a:tr>
              <a:tr h="370840">
                <a:tc>
                  <a:txBody>
                    <a:bodyPr/>
                    <a:lstStyle/>
                    <a:p>
                      <a:pPr fontAlgn="base"/>
                      <a:r>
                        <a:rPr lang="en-AU" b="1">
                          <a:effectLst/>
                        </a:rPr>
                        <a:t>Access Variables</a:t>
                      </a:r>
                      <a:endParaRPr lang="en-AU">
                        <a:effectLst/>
                      </a:endParaRPr>
                    </a:p>
                  </a:txBody>
                  <a:tcPr anchor="ctr"/>
                </a:tc>
                <a:tc>
                  <a:txBody>
                    <a:bodyPr/>
                    <a:lstStyle/>
                    <a:p>
                      <a:pPr fontAlgn="base"/>
                      <a:r>
                        <a:rPr lang="en-AU">
                          <a:effectLst/>
                        </a:rPr>
                        <a:t>View the value of local variables</a:t>
                      </a:r>
                    </a:p>
                  </a:txBody>
                  <a:tcPr anchor="ctr"/>
                </a:tc>
                <a:tc>
                  <a:txBody>
                    <a:bodyPr/>
                    <a:lstStyle/>
                    <a:p>
                      <a:pPr fontAlgn="base"/>
                      <a:r>
                        <a:rPr lang="en-AU" dirty="0">
                          <a:effectLst/>
                        </a:rPr>
                        <a:t>p </a:t>
                      </a:r>
                      <a:r>
                        <a:rPr lang="en-AU" dirty="0" err="1">
                          <a:effectLst/>
                        </a:rPr>
                        <a:t>variable_name</a:t>
                      </a:r>
                      <a:endParaRPr lang="en-AU" dirty="0">
                        <a:effectLst/>
                      </a:endParaRPr>
                    </a:p>
                  </a:txBody>
                  <a:tcPr anchor="ctr"/>
                </a:tc>
                <a:tc>
                  <a:txBody>
                    <a:bodyPr/>
                    <a:lstStyle/>
                    <a:p>
                      <a:pPr fontAlgn="base"/>
                      <a:r>
                        <a:rPr lang="en-AU" dirty="0">
                          <a:effectLst/>
                        </a:rPr>
                        <a:t>Alt + F8 (Evaluate Expression)</a:t>
                      </a:r>
                    </a:p>
                  </a:txBody>
                  <a:tcPr anchor="ctr"/>
                </a:tc>
                <a:extLst>
                  <a:ext uri="{0D108BD9-81ED-4DB2-BD59-A6C34878D82A}">
                    <a16:rowId xmlns:a16="http://schemas.microsoft.com/office/drawing/2014/main" val="1047544395"/>
                  </a:ext>
                </a:extLst>
              </a:tr>
              <a:tr h="370840">
                <a:tc>
                  <a:txBody>
                    <a:bodyPr/>
                    <a:lstStyle/>
                    <a:p>
                      <a:pPr fontAlgn="base"/>
                      <a:r>
                        <a:rPr lang="en-AU" b="1">
                          <a:effectLst/>
                        </a:rPr>
                        <a:t>Continue</a:t>
                      </a:r>
                      <a:endParaRPr lang="en-AU">
                        <a:effectLst/>
                      </a:endParaRPr>
                    </a:p>
                  </a:txBody>
                  <a:tcPr anchor="ctr"/>
                </a:tc>
                <a:tc>
                  <a:txBody>
                    <a:bodyPr/>
                    <a:lstStyle/>
                    <a:p>
                      <a:pPr fontAlgn="base"/>
                      <a:r>
                        <a:rPr lang="en-AU">
                          <a:effectLst/>
                        </a:rPr>
                        <a:t>Resume program execution until the next breakpoint</a:t>
                      </a:r>
                    </a:p>
                  </a:txBody>
                  <a:tcPr anchor="ctr"/>
                </a:tc>
                <a:tc>
                  <a:txBody>
                    <a:bodyPr/>
                    <a:lstStyle/>
                    <a:p>
                      <a:pPr fontAlgn="base"/>
                      <a:r>
                        <a:rPr lang="en-AU">
                          <a:effectLst/>
                        </a:rPr>
                        <a:t>c or continue</a:t>
                      </a:r>
                    </a:p>
                  </a:txBody>
                  <a:tcPr anchor="ctr"/>
                </a:tc>
                <a:tc>
                  <a:txBody>
                    <a:bodyPr/>
                    <a:lstStyle/>
                    <a:p>
                      <a:pPr fontAlgn="base"/>
                      <a:r>
                        <a:rPr lang="en-AU">
                          <a:effectLst/>
                        </a:rPr>
                        <a:t>F9</a:t>
                      </a:r>
                    </a:p>
                  </a:txBody>
                  <a:tcPr anchor="ctr"/>
                </a:tc>
                <a:extLst>
                  <a:ext uri="{0D108BD9-81ED-4DB2-BD59-A6C34878D82A}">
                    <a16:rowId xmlns:a16="http://schemas.microsoft.com/office/drawing/2014/main" val="2842541902"/>
                  </a:ext>
                </a:extLst>
              </a:tr>
              <a:tr h="370840">
                <a:tc>
                  <a:txBody>
                    <a:bodyPr/>
                    <a:lstStyle/>
                    <a:p>
                      <a:pPr fontAlgn="base"/>
                      <a:r>
                        <a:rPr lang="en-AU" b="1">
                          <a:effectLst/>
                        </a:rPr>
                        <a:t>Set Breakpoint</a:t>
                      </a:r>
                      <a:endParaRPr lang="en-AU">
                        <a:effectLst/>
                      </a:endParaRPr>
                    </a:p>
                  </a:txBody>
                  <a:tcPr anchor="ctr"/>
                </a:tc>
                <a:tc>
                  <a:txBody>
                    <a:bodyPr/>
                    <a:lstStyle/>
                    <a:p>
                      <a:pPr fontAlgn="base"/>
                      <a:r>
                        <a:rPr lang="en-AU">
                          <a:effectLst/>
                        </a:rPr>
                        <a:t>Halt program execution at a specific line</a:t>
                      </a:r>
                    </a:p>
                  </a:txBody>
                  <a:tcPr anchor="ctr"/>
                </a:tc>
                <a:tc>
                  <a:txBody>
                    <a:bodyPr/>
                    <a:lstStyle/>
                    <a:p>
                      <a:pPr fontAlgn="base"/>
                      <a:r>
                        <a:rPr lang="en-AU">
                          <a:effectLst/>
                        </a:rPr>
                        <a:t>b line_num</a:t>
                      </a:r>
                    </a:p>
                  </a:txBody>
                  <a:tcPr anchor="ctr"/>
                </a:tc>
                <a:tc>
                  <a:txBody>
                    <a:bodyPr/>
                    <a:lstStyle/>
                    <a:p>
                      <a:pPr fontAlgn="base"/>
                      <a:r>
                        <a:rPr lang="en-AU">
                          <a:effectLst/>
                        </a:rPr>
                        <a:t>Ctrl + F8</a:t>
                      </a:r>
                    </a:p>
                  </a:txBody>
                  <a:tcPr anchor="ctr"/>
                </a:tc>
                <a:extLst>
                  <a:ext uri="{0D108BD9-81ED-4DB2-BD59-A6C34878D82A}">
                    <a16:rowId xmlns:a16="http://schemas.microsoft.com/office/drawing/2014/main" val="794428588"/>
                  </a:ext>
                </a:extLst>
              </a:tr>
              <a:tr h="370840">
                <a:tc>
                  <a:txBody>
                    <a:bodyPr/>
                    <a:lstStyle/>
                    <a:p>
                      <a:pPr fontAlgn="base"/>
                      <a:r>
                        <a:rPr lang="en-AU" b="1">
                          <a:effectLst/>
                        </a:rPr>
                        <a:t>List Code</a:t>
                      </a:r>
                      <a:endParaRPr lang="en-AU">
                        <a:effectLst/>
                      </a:endParaRPr>
                    </a:p>
                  </a:txBody>
                  <a:tcPr anchor="ctr"/>
                </a:tc>
                <a:tc>
                  <a:txBody>
                    <a:bodyPr/>
                    <a:lstStyle/>
                    <a:p>
                      <a:pPr fontAlgn="base"/>
                      <a:r>
                        <a:rPr lang="en-AU">
                          <a:effectLst/>
                        </a:rPr>
                        <a:t>Display source code around the current line</a:t>
                      </a:r>
                    </a:p>
                  </a:txBody>
                  <a:tcPr anchor="ctr"/>
                </a:tc>
                <a:tc>
                  <a:txBody>
                    <a:bodyPr/>
                    <a:lstStyle/>
                    <a:p>
                      <a:pPr fontAlgn="base"/>
                      <a:r>
                        <a:rPr lang="en-AU">
                          <a:effectLst/>
                        </a:rPr>
                        <a:t>l or list</a:t>
                      </a:r>
                    </a:p>
                  </a:txBody>
                  <a:tcPr anchor="ctr"/>
                </a:tc>
                <a:tc>
                  <a:txBody>
                    <a:bodyPr/>
                    <a:lstStyle/>
                    <a:p>
                      <a:pPr fontAlgn="base"/>
                      <a:r>
                        <a:rPr lang="en-AU" dirty="0">
                          <a:effectLst/>
                        </a:rPr>
                        <a:t>N/A (PyCharm shows source by default)</a:t>
                      </a:r>
                    </a:p>
                  </a:txBody>
                  <a:tcPr anchor="ctr"/>
                </a:tc>
                <a:extLst>
                  <a:ext uri="{0D108BD9-81ED-4DB2-BD59-A6C34878D82A}">
                    <a16:rowId xmlns:a16="http://schemas.microsoft.com/office/drawing/2014/main" val="4106438385"/>
                  </a:ext>
                </a:extLst>
              </a:tr>
            </a:tbl>
          </a:graphicData>
        </a:graphic>
      </p:graphicFrame>
    </p:spTree>
    <p:extLst>
      <p:ext uri="{BB962C8B-B14F-4D97-AF65-F5344CB8AC3E}">
        <p14:creationId xmlns:p14="http://schemas.microsoft.com/office/powerpoint/2010/main" val="3534112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B6521-F6A5-24F3-E081-437780589089}"/>
              </a:ext>
            </a:extLst>
          </p:cNvPr>
          <p:cNvSpPr>
            <a:spLocks noGrp="1"/>
          </p:cNvSpPr>
          <p:nvPr>
            <p:ph type="title"/>
          </p:nvPr>
        </p:nvSpPr>
        <p:spPr/>
        <p:txBody>
          <a:bodyPr/>
          <a:lstStyle/>
          <a:p>
            <a:r>
              <a:rPr lang="en-US" dirty="0"/>
              <a:t>Other key tasks</a:t>
            </a:r>
          </a:p>
        </p:txBody>
      </p:sp>
      <p:graphicFrame>
        <p:nvGraphicFramePr>
          <p:cNvPr id="4" name="Table 4">
            <a:extLst>
              <a:ext uri="{FF2B5EF4-FFF2-40B4-BE49-F238E27FC236}">
                <a16:creationId xmlns:a16="http://schemas.microsoft.com/office/drawing/2014/main" id="{27E87AE4-3052-1184-1E46-753043BA9701}"/>
              </a:ext>
            </a:extLst>
          </p:cNvPr>
          <p:cNvGraphicFramePr>
            <a:graphicFrameLocks noGrp="1"/>
          </p:cNvGraphicFramePr>
          <p:nvPr>
            <p:ph idx="1"/>
            <p:extLst>
              <p:ext uri="{D42A27DB-BD31-4B8C-83A1-F6EECF244321}">
                <p14:modId xmlns:p14="http://schemas.microsoft.com/office/powerpoint/2010/main" val="3628174009"/>
              </p:ext>
            </p:extLst>
          </p:nvPr>
        </p:nvGraphicFramePr>
        <p:xfrm>
          <a:off x="211874" y="789823"/>
          <a:ext cx="11675327" cy="5568283"/>
        </p:xfrm>
        <a:graphic>
          <a:graphicData uri="http://schemas.openxmlformats.org/drawingml/2006/table">
            <a:tbl>
              <a:tblPr firstRow="1" bandRow="1">
                <a:tableStyleId>{5C22544A-7EE6-4342-B048-85BDC9FD1C3A}</a:tableStyleId>
              </a:tblPr>
              <a:tblGrid>
                <a:gridCol w="1773043">
                  <a:extLst>
                    <a:ext uri="{9D8B030D-6E8A-4147-A177-3AD203B41FA5}">
                      <a16:colId xmlns:a16="http://schemas.microsoft.com/office/drawing/2014/main" val="79996837"/>
                    </a:ext>
                  </a:extLst>
                </a:gridCol>
                <a:gridCol w="2899317">
                  <a:extLst>
                    <a:ext uri="{9D8B030D-6E8A-4147-A177-3AD203B41FA5}">
                      <a16:colId xmlns:a16="http://schemas.microsoft.com/office/drawing/2014/main" val="1605590233"/>
                    </a:ext>
                  </a:extLst>
                </a:gridCol>
                <a:gridCol w="3624146">
                  <a:extLst>
                    <a:ext uri="{9D8B030D-6E8A-4147-A177-3AD203B41FA5}">
                      <a16:colId xmlns:a16="http://schemas.microsoft.com/office/drawing/2014/main" val="3891131102"/>
                    </a:ext>
                  </a:extLst>
                </a:gridCol>
                <a:gridCol w="3378821">
                  <a:extLst>
                    <a:ext uri="{9D8B030D-6E8A-4147-A177-3AD203B41FA5}">
                      <a16:colId xmlns:a16="http://schemas.microsoft.com/office/drawing/2014/main" val="1930822742"/>
                    </a:ext>
                  </a:extLst>
                </a:gridCol>
              </a:tblGrid>
              <a:tr h="454554">
                <a:tc>
                  <a:txBody>
                    <a:bodyPr/>
                    <a:lstStyle/>
                    <a:p>
                      <a:pPr fontAlgn="b"/>
                      <a:r>
                        <a:rPr lang="en-AU" b="1">
                          <a:effectLst/>
                        </a:rPr>
                        <a:t>Action</a:t>
                      </a:r>
                    </a:p>
                  </a:txBody>
                  <a:tcPr anchor="b"/>
                </a:tc>
                <a:tc>
                  <a:txBody>
                    <a:bodyPr/>
                    <a:lstStyle/>
                    <a:p>
                      <a:pPr fontAlgn="b"/>
                      <a:r>
                        <a:rPr lang="en-AU" b="1">
                          <a:effectLst/>
                        </a:rPr>
                        <a:t>Description</a:t>
                      </a:r>
                    </a:p>
                  </a:txBody>
                  <a:tcPr anchor="b"/>
                </a:tc>
                <a:tc>
                  <a:txBody>
                    <a:bodyPr/>
                    <a:lstStyle/>
                    <a:p>
                      <a:pPr fontAlgn="b"/>
                      <a:r>
                        <a:rPr lang="en-AU" b="1" dirty="0">
                          <a:effectLst/>
                        </a:rPr>
                        <a:t>PDB</a:t>
                      </a:r>
                    </a:p>
                  </a:txBody>
                  <a:tcPr anchor="b"/>
                </a:tc>
                <a:tc>
                  <a:txBody>
                    <a:bodyPr/>
                    <a:lstStyle/>
                    <a:p>
                      <a:pPr fontAlgn="b"/>
                      <a:r>
                        <a:rPr lang="en-AU" b="1">
                          <a:effectLst/>
                        </a:rPr>
                        <a:t>PyCharm Debugger</a:t>
                      </a:r>
                    </a:p>
                  </a:txBody>
                  <a:tcPr anchor="b"/>
                </a:tc>
                <a:extLst>
                  <a:ext uri="{0D108BD9-81ED-4DB2-BD59-A6C34878D82A}">
                    <a16:rowId xmlns:a16="http://schemas.microsoft.com/office/drawing/2014/main" val="931568114"/>
                  </a:ext>
                </a:extLst>
              </a:tr>
              <a:tr h="795469">
                <a:tc>
                  <a:txBody>
                    <a:bodyPr/>
                    <a:lstStyle/>
                    <a:p>
                      <a:pPr fontAlgn="base"/>
                      <a:r>
                        <a:rPr lang="en-AU">
                          <a:effectLst/>
                        </a:rPr>
                        <a:t>Set Breakpoint</a:t>
                      </a:r>
                    </a:p>
                  </a:txBody>
                  <a:tcPr anchor="ctr"/>
                </a:tc>
                <a:tc>
                  <a:txBody>
                    <a:bodyPr/>
                    <a:lstStyle/>
                    <a:p>
                      <a:pPr fontAlgn="base"/>
                      <a:r>
                        <a:rPr lang="en-AU">
                          <a:effectLst/>
                        </a:rPr>
                        <a:t>Halt execution at a specific line</a:t>
                      </a:r>
                    </a:p>
                  </a:txBody>
                  <a:tcPr anchor="ctr"/>
                </a:tc>
                <a:tc>
                  <a:txBody>
                    <a:bodyPr/>
                    <a:lstStyle/>
                    <a:p>
                      <a:pPr fontAlgn="base"/>
                      <a:r>
                        <a:rPr lang="en-AU">
                          <a:effectLst/>
                        </a:rPr>
                        <a:t>breakpoint()</a:t>
                      </a:r>
                    </a:p>
                  </a:txBody>
                  <a:tcPr anchor="ctr"/>
                </a:tc>
                <a:tc>
                  <a:txBody>
                    <a:bodyPr/>
                    <a:lstStyle/>
                    <a:p>
                      <a:pPr fontAlgn="base"/>
                      <a:r>
                        <a:rPr lang="en-AU">
                          <a:effectLst/>
                        </a:rPr>
                        <a:t>Ctrl + F8 (Click on gutter)</a:t>
                      </a:r>
                    </a:p>
                  </a:txBody>
                  <a:tcPr anchor="ctr"/>
                </a:tc>
                <a:extLst>
                  <a:ext uri="{0D108BD9-81ED-4DB2-BD59-A6C34878D82A}">
                    <a16:rowId xmlns:a16="http://schemas.microsoft.com/office/drawing/2014/main" val="2532945233"/>
                  </a:ext>
                </a:extLst>
              </a:tr>
              <a:tr h="795469">
                <a:tc>
                  <a:txBody>
                    <a:bodyPr/>
                    <a:lstStyle/>
                    <a:p>
                      <a:pPr fontAlgn="base"/>
                      <a:r>
                        <a:rPr lang="en-AU" dirty="0">
                          <a:effectLst/>
                        </a:rPr>
                        <a:t>Set Conditional Breakpoint</a:t>
                      </a:r>
                    </a:p>
                  </a:txBody>
                  <a:tcPr anchor="ctr"/>
                </a:tc>
                <a:tc>
                  <a:txBody>
                    <a:bodyPr/>
                    <a:lstStyle/>
                    <a:p>
                      <a:pPr fontAlgn="base"/>
                      <a:r>
                        <a:rPr lang="en-AU">
                          <a:effectLst/>
                        </a:rPr>
                        <a:t>Halt execution only if a condition is met</a:t>
                      </a:r>
                    </a:p>
                  </a:txBody>
                  <a:tcPr anchor="ctr"/>
                </a:tc>
                <a:tc>
                  <a:txBody>
                    <a:bodyPr/>
                    <a:lstStyle/>
                    <a:p>
                      <a:pPr fontAlgn="base"/>
                      <a:r>
                        <a:rPr lang="en-AU" dirty="0">
                          <a:effectLst/>
                        </a:rPr>
                        <a:t>breakpoint() within an if clause</a:t>
                      </a:r>
                    </a:p>
                  </a:txBody>
                  <a:tcPr anchor="ctr"/>
                </a:tc>
                <a:tc>
                  <a:txBody>
                    <a:bodyPr/>
                    <a:lstStyle/>
                    <a:p>
                      <a:pPr fontAlgn="base"/>
                      <a:r>
                        <a:rPr lang="en-AU">
                          <a:effectLst/>
                        </a:rPr>
                        <a:t>Right-click on breakpoint, select 'Edit' and set condition</a:t>
                      </a:r>
                    </a:p>
                  </a:txBody>
                  <a:tcPr anchor="ctr"/>
                </a:tc>
                <a:extLst>
                  <a:ext uri="{0D108BD9-81ED-4DB2-BD59-A6C34878D82A}">
                    <a16:rowId xmlns:a16="http://schemas.microsoft.com/office/drawing/2014/main" val="3900278733"/>
                  </a:ext>
                </a:extLst>
              </a:tr>
              <a:tr h="1136384">
                <a:tc>
                  <a:txBody>
                    <a:bodyPr/>
                    <a:lstStyle/>
                    <a:p>
                      <a:pPr fontAlgn="base"/>
                      <a:r>
                        <a:rPr lang="en-AU" dirty="0">
                          <a:effectLst/>
                        </a:rPr>
                        <a:t>Break on Exception</a:t>
                      </a:r>
                    </a:p>
                  </a:txBody>
                  <a:tcPr anchor="ctr"/>
                </a:tc>
                <a:tc>
                  <a:txBody>
                    <a:bodyPr/>
                    <a:lstStyle/>
                    <a:p>
                      <a:pPr fontAlgn="base"/>
                      <a:r>
                        <a:rPr lang="en-AU">
                          <a:effectLst/>
                        </a:rPr>
                        <a:t>Pause execution when a specific exception is raised</a:t>
                      </a:r>
                    </a:p>
                  </a:txBody>
                  <a:tcPr anchor="ctr"/>
                </a:tc>
                <a:tc>
                  <a:txBody>
                    <a:bodyPr/>
                    <a:lstStyle/>
                    <a:p>
                      <a:pPr fontAlgn="base"/>
                      <a:r>
                        <a:rPr lang="en-AU" dirty="0">
                          <a:effectLst/>
                        </a:rPr>
                        <a:t>breakpoint() inside an except clause</a:t>
                      </a:r>
                    </a:p>
                  </a:txBody>
                  <a:tcPr anchor="ctr"/>
                </a:tc>
                <a:tc>
                  <a:txBody>
                    <a:bodyPr/>
                    <a:lstStyle/>
                    <a:p>
                      <a:pPr fontAlgn="base"/>
                      <a:r>
                        <a:rPr lang="en-AU" dirty="0">
                          <a:effectLst/>
                        </a:rPr>
                        <a:t>In the Breakpoints dialog (Ctrl + Shift + F8), enable the specific exception</a:t>
                      </a:r>
                    </a:p>
                  </a:txBody>
                  <a:tcPr anchor="ctr"/>
                </a:tc>
                <a:extLst>
                  <a:ext uri="{0D108BD9-81ED-4DB2-BD59-A6C34878D82A}">
                    <a16:rowId xmlns:a16="http://schemas.microsoft.com/office/drawing/2014/main" val="204103886"/>
                  </a:ext>
                </a:extLst>
              </a:tr>
              <a:tr h="795469">
                <a:tc>
                  <a:txBody>
                    <a:bodyPr/>
                    <a:lstStyle/>
                    <a:p>
                      <a:pPr fontAlgn="base"/>
                      <a:r>
                        <a:rPr lang="en-AU" dirty="0">
                          <a:effectLst/>
                        </a:rPr>
                        <a:t>View Active Breakpoints</a:t>
                      </a:r>
                    </a:p>
                  </a:txBody>
                  <a:tcPr anchor="ctr"/>
                </a:tc>
                <a:tc>
                  <a:txBody>
                    <a:bodyPr/>
                    <a:lstStyle/>
                    <a:p>
                      <a:pPr fontAlgn="base"/>
                      <a:r>
                        <a:rPr lang="en-AU" dirty="0">
                          <a:effectLst/>
                        </a:rPr>
                        <a:t>List all the breakpoints</a:t>
                      </a:r>
                    </a:p>
                  </a:txBody>
                  <a:tcPr anchor="ctr"/>
                </a:tc>
                <a:tc>
                  <a:txBody>
                    <a:bodyPr/>
                    <a:lstStyle/>
                    <a:p>
                      <a:pPr fontAlgn="base"/>
                      <a:r>
                        <a:rPr lang="en-AU" dirty="0" err="1">
                          <a:effectLst/>
                        </a:rPr>
                        <a:t>pdb</a:t>
                      </a:r>
                      <a:r>
                        <a:rPr lang="en-AU" dirty="0">
                          <a:effectLst/>
                        </a:rPr>
                        <a:t> command: break</a:t>
                      </a:r>
                    </a:p>
                  </a:txBody>
                  <a:tcPr anchor="ctr"/>
                </a:tc>
                <a:tc>
                  <a:txBody>
                    <a:bodyPr/>
                    <a:lstStyle/>
                    <a:p>
                      <a:pPr fontAlgn="base"/>
                      <a:r>
                        <a:rPr lang="en-AU" dirty="0">
                          <a:effectLst/>
                        </a:rPr>
                        <a:t>Ctrl + Shift + F8 (Opens Breakpoints dialog)</a:t>
                      </a:r>
                    </a:p>
                  </a:txBody>
                  <a:tcPr anchor="ctr"/>
                </a:tc>
                <a:extLst>
                  <a:ext uri="{0D108BD9-81ED-4DB2-BD59-A6C34878D82A}">
                    <a16:rowId xmlns:a16="http://schemas.microsoft.com/office/drawing/2014/main" val="3393677906"/>
                  </a:ext>
                </a:extLst>
              </a:tr>
              <a:tr h="795469">
                <a:tc>
                  <a:txBody>
                    <a:bodyPr/>
                    <a:lstStyle/>
                    <a:p>
                      <a:pPr fontAlgn="base"/>
                      <a:r>
                        <a:rPr lang="en-AU" dirty="0">
                          <a:effectLst/>
                        </a:rPr>
                        <a:t>Delete a Breakpoint</a:t>
                      </a:r>
                    </a:p>
                  </a:txBody>
                  <a:tcPr anchor="ctr"/>
                </a:tc>
                <a:tc>
                  <a:txBody>
                    <a:bodyPr/>
                    <a:lstStyle/>
                    <a:p>
                      <a:pPr fontAlgn="base"/>
                      <a:r>
                        <a:rPr lang="en-AU" dirty="0">
                          <a:effectLst/>
                        </a:rPr>
                        <a:t>Remove set breakpoint</a:t>
                      </a:r>
                    </a:p>
                  </a:txBody>
                  <a:tcPr anchor="ctr"/>
                </a:tc>
                <a:tc>
                  <a:txBody>
                    <a:bodyPr/>
                    <a:lstStyle/>
                    <a:p>
                      <a:pPr fontAlgn="base"/>
                      <a:r>
                        <a:rPr lang="en-AU" dirty="0" err="1">
                          <a:effectLst/>
                        </a:rPr>
                        <a:t>pdb</a:t>
                      </a:r>
                      <a:r>
                        <a:rPr lang="en-AU" dirty="0">
                          <a:effectLst/>
                        </a:rPr>
                        <a:t> commands: cl or clear</a:t>
                      </a:r>
                    </a:p>
                  </a:txBody>
                  <a:tcPr anchor="ctr"/>
                </a:tc>
                <a:tc>
                  <a:txBody>
                    <a:bodyPr/>
                    <a:lstStyle/>
                    <a:p>
                      <a:pPr fontAlgn="base"/>
                      <a:r>
                        <a:rPr lang="en-AU" dirty="0">
                          <a:effectLst/>
                        </a:rPr>
                        <a:t>Right-click on breakpoint and choose 'Remove'</a:t>
                      </a:r>
                    </a:p>
                  </a:txBody>
                  <a:tcPr anchor="ctr"/>
                </a:tc>
                <a:extLst>
                  <a:ext uri="{0D108BD9-81ED-4DB2-BD59-A6C34878D82A}">
                    <a16:rowId xmlns:a16="http://schemas.microsoft.com/office/drawing/2014/main" val="773585064"/>
                  </a:ext>
                </a:extLst>
              </a:tr>
              <a:tr h="795469">
                <a:tc>
                  <a:txBody>
                    <a:bodyPr/>
                    <a:lstStyle/>
                    <a:p>
                      <a:pPr fontAlgn="base"/>
                      <a:r>
                        <a:rPr lang="en-AU" dirty="0">
                          <a:effectLst/>
                        </a:rPr>
                        <a:t>Enable/Disable Breakpoint</a:t>
                      </a:r>
                    </a:p>
                  </a:txBody>
                  <a:tcPr anchor="ctr"/>
                </a:tc>
                <a:tc>
                  <a:txBody>
                    <a:bodyPr/>
                    <a:lstStyle/>
                    <a:p>
                      <a:pPr fontAlgn="base"/>
                      <a:r>
                        <a:rPr lang="en-AU" dirty="0">
                          <a:effectLst/>
                        </a:rPr>
                        <a:t>Toggle breakpoint without removing it</a:t>
                      </a:r>
                    </a:p>
                  </a:txBody>
                  <a:tcPr anchor="ctr"/>
                </a:tc>
                <a:tc>
                  <a:txBody>
                    <a:bodyPr/>
                    <a:lstStyle/>
                    <a:p>
                      <a:pPr fontAlgn="base"/>
                      <a:r>
                        <a:rPr lang="en-AU" dirty="0" err="1">
                          <a:effectLst/>
                        </a:rPr>
                        <a:t>pdb</a:t>
                      </a:r>
                      <a:r>
                        <a:rPr lang="en-AU" dirty="0">
                          <a:effectLst/>
                        </a:rPr>
                        <a:t> commands: disable or enable </a:t>
                      </a:r>
                    </a:p>
                  </a:txBody>
                  <a:tcPr anchor="ctr"/>
                </a:tc>
                <a:tc>
                  <a:txBody>
                    <a:bodyPr/>
                    <a:lstStyle/>
                    <a:p>
                      <a:pPr fontAlgn="base"/>
                      <a:r>
                        <a:rPr lang="en-AU" dirty="0">
                          <a:effectLst/>
                        </a:rPr>
                        <a:t>Right-click on breakpoint and select 'Disable/Enable'</a:t>
                      </a:r>
                    </a:p>
                  </a:txBody>
                  <a:tcPr anchor="ctr"/>
                </a:tc>
                <a:extLst>
                  <a:ext uri="{0D108BD9-81ED-4DB2-BD59-A6C34878D82A}">
                    <a16:rowId xmlns:a16="http://schemas.microsoft.com/office/drawing/2014/main" val="3631397174"/>
                  </a:ext>
                </a:extLst>
              </a:tr>
            </a:tbl>
          </a:graphicData>
        </a:graphic>
      </p:graphicFrame>
      <p:sp>
        <p:nvSpPr>
          <p:cNvPr id="6" name="TextBox 5">
            <a:extLst>
              <a:ext uri="{FF2B5EF4-FFF2-40B4-BE49-F238E27FC236}">
                <a16:creationId xmlns:a16="http://schemas.microsoft.com/office/drawing/2014/main" id="{4FC0AD14-91F1-DCC4-7C44-5310FA09C85D}"/>
              </a:ext>
            </a:extLst>
          </p:cNvPr>
          <p:cNvSpPr txBox="1"/>
          <p:nvPr/>
        </p:nvSpPr>
        <p:spPr>
          <a:xfrm rot="10800000">
            <a:off x="11131060" y="6358108"/>
            <a:ext cx="940777" cy="1446550"/>
          </a:xfrm>
          <a:prstGeom prst="rect">
            <a:avLst/>
          </a:prstGeom>
          <a:noFill/>
        </p:spPr>
        <p:txBody>
          <a:bodyPr wrap="square">
            <a:spAutoFit/>
          </a:bodyPr>
          <a:lstStyle/>
          <a:p>
            <a:r>
              <a:rPr lang="en-AU" sz="4400" b="1" i="0" kern="1200" dirty="0">
                <a:solidFill>
                  <a:schemeClr val="bg1"/>
                </a:solidFill>
                <a:effectLst/>
                <a:latin typeface="+mn-lt"/>
                <a:ea typeface="+mn-ea"/>
                <a:cs typeface="+mn-cs"/>
              </a:rPr>
              <a:t>↓↓</a:t>
            </a:r>
            <a:endParaRPr lang="en-US" sz="4400" b="1" dirty="0">
              <a:solidFill>
                <a:schemeClr val="bg1"/>
              </a:solidFill>
            </a:endParaRPr>
          </a:p>
          <a:p>
            <a:endParaRPr lang="en-US" sz="4400" b="1" dirty="0">
              <a:solidFill>
                <a:schemeClr val="bg1"/>
              </a:solidFill>
            </a:endParaRPr>
          </a:p>
        </p:txBody>
      </p:sp>
    </p:spTree>
    <p:extLst>
      <p:ext uri="{BB962C8B-B14F-4D97-AF65-F5344CB8AC3E}">
        <p14:creationId xmlns:p14="http://schemas.microsoft.com/office/powerpoint/2010/main" val="2891592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5187B4B-6AEB-DA7D-C98A-9E28BA5F52A9}"/>
              </a:ext>
            </a:extLst>
          </p:cNvPr>
          <p:cNvSpPr txBox="1"/>
          <p:nvPr/>
        </p:nvSpPr>
        <p:spPr>
          <a:xfrm>
            <a:off x="2154116" y="2456795"/>
            <a:ext cx="9838592" cy="5139869"/>
          </a:xfrm>
          <a:prstGeom prst="rect">
            <a:avLst/>
          </a:prstGeom>
          <a:noFill/>
        </p:spPr>
        <p:txBody>
          <a:bodyPr wrap="square">
            <a:spAutoFit/>
          </a:bodyPr>
          <a:lstStyle/>
          <a:p>
            <a:pPr algn="l"/>
            <a:r>
              <a:rPr lang="en-AU" sz="4800" b="0" i="0" dirty="0">
                <a:solidFill>
                  <a:schemeClr val="bg1"/>
                </a:solidFill>
                <a:effectLst/>
                <a:latin typeface="Helvetica Neue" panose="02000503000000020004" pitchFamily="2" charset="0"/>
              </a:rPr>
              <a:t>Use __</a:t>
            </a:r>
            <a:r>
              <a:rPr lang="en-AU" sz="4800" b="0" i="0" dirty="0" err="1">
                <a:solidFill>
                  <a:schemeClr val="bg1"/>
                </a:solidFill>
                <a:effectLst/>
                <a:latin typeface="Helvetica Neue" panose="02000503000000020004" pitchFamily="2" charset="0"/>
              </a:rPr>
              <a:t>repr</a:t>
            </a:r>
            <a:r>
              <a:rPr lang="en-AU" sz="4800" b="0" i="0" dirty="0">
                <a:solidFill>
                  <a:schemeClr val="bg1"/>
                </a:solidFill>
                <a:effectLst/>
                <a:latin typeface="Helvetica Neue" panose="02000503000000020004" pitchFamily="2" charset="0"/>
              </a:rPr>
              <a:t>__ with your own classes to make debugging easier.**</a:t>
            </a:r>
            <a:br>
              <a:rPr lang="en-AU" sz="4800" b="0" i="0" dirty="0">
                <a:solidFill>
                  <a:schemeClr val="bg1"/>
                </a:solidFill>
                <a:effectLst/>
                <a:latin typeface="Helvetica Neue" panose="02000503000000020004" pitchFamily="2" charset="0"/>
              </a:rPr>
            </a:br>
            <a:r>
              <a:rPr lang="en-AU" sz="4800" b="0" i="0" dirty="0">
                <a:solidFill>
                  <a:schemeClr val="bg1"/>
                </a:solidFill>
                <a:effectLst/>
                <a:latin typeface="Helvetica Neue" panose="02000503000000020004" pitchFamily="2" charset="0"/>
              </a:rPr>
              <a:t> </a:t>
            </a:r>
            <a:br>
              <a:rPr lang="en-AU" sz="4000" b="0" i="0" dirty="0">
                <a:solidFill>
                  <a:schemeClr val="bg1"/>
                </a:solidFill>
                <a:effectLst/>
                <a:latin typeface="Helvetica Neue" panose="02000503000000020004" pitchFamily="2" charset="0"/>
              </a:rPr>
            </a:br>
            <a:r>
              <a:rPr lang="en-AU" sz="2800" b="0" i="0" dirty="0">
                <a:solidFill>
                  <a:schemeClr val="bg1"/>
                </a:solidFill>
                <a:effectLst/>
                <a:latin typeface="Helvetica Neue" panose="02000503000000020004" pitchFamily="2" charset="0"/>
              </a:rPr>
              <a:t>The 'default' </a:t>
            </a:r>
            <a:r>
              <a:rPr lang="en-AU" sz="2800" b="0" i="0" dirty="0" err="1">
                <a:solidFill>
                  <a:schemeClr val="bg1"/>
                </a:solidFill>
                <a:effectLst/>
                <a:latin typeface="Helvetica Neue" panose="02000503000000020004" pitchFamily="2" charset="0"/>
              </a:rPr>
              <a:t>repr</a:t>
            </a:r>
            <a:r>
              <a:rPr lang="en-AU" sz="2800" b="0" i="0" dirty="0">
                <a:solidFill>
                  <a:schemeClr val="bg1"/>
                </a:solidFill>
                <a:effectLst/>
                <a:latin typeface="Helvetica Neue" panose="02000503000000020004" pitchFamily="2" charset="0"/>
              </a:rPr>
              <a:t> is not very helpful (e.g. &lt;__main__.</a:t>
            </a:r>
            <a:r>
              <a:rPr lang="en-AU" sz="2800" b="0" i="0" dirty="0" err="1">
                <a:solidFill>
                  <a:schemeClr val="bg1"/>
                </a:solidFill>
                <a:effectLst/>
                <a:latin typeface="Helvetica Neue" panose="02000503000000020004" pitchFamily="2" charset="0"/>
              </a:rPr>
              <a:t>MyClass</a:t>
            </a:r>
            <a:r>
              <a:rPr lang="en-AU" sz="2800" b="0" i="0" dirty="0">
                <a:solidFill>
                  <a:schemeClr val="bg1"/>
                </a:solidFill>
                <a:effectLst/>
                <a:latin typeface="Helvetica Neue" panose="02000503000000020004" pitchFamily="2" charset="0"/>
              </a:rPr>
              <a:t> object at 0x7f9b8c0b6a90&gt;).</a:t>
            </a:r>
          </a:p>
          <a:p>
            <a:br>
              <a:rPr lang="en-AU" sz="4000" dirty="0">
                <a:solidFill>
                  <a:schemeClr val="bg1"/>
                </a:solidFill>
              </a:rPr>
            </a:br>
            <a:endParaRPr lang="en-US" sz="4000" dirty="0">
              <a:solidFill>
                <a:schemeClr val="bg1"/>
              </a:solidFill>
            </a:endParaRPr>
          </a:p>
        </p:txBody>
      </p:sp>
      <p:pic>
        <p:nvPicPr>
          <p:cNvPr id="11" name="Graphic 10" descr="Lights On with solid fill">
            <a:extLst>
              <a:ext uri="{FF2B5EF4-FFF2-40B4-BE49-F238E27FC236}">
                <a16:creationId xmlns:a16="http://schemas.microsoft.com/office/drawing/2014/main" id="{E24E2BC1-0EF9-913B-835B-F8439908688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1692" y="2456795"/>
            <a:ext cx="1375997" cy="1375997"/>
          </a:xfrm>
          <a:prstGeom prst="rect">
            <a:avLst/>
          </a:prstGeom>
        </p:spPr>
      </p:pic>
    </p:spTree>
    <p:extLst>
      <p:ext uri="{BB962C8B-B14F-4D97-AF65-F5344CB8AC3E}">
        <p14:creationId xmlns:p14="http://schemas.microsoft.com/office/powerpoint/2010/main" val="1695646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B5946-BB25-3679-D6B4-70A80A1E9BC7}"/>
              </a:ext>
            </a:extLst>
          </p:cNvPr>
          <p:cNvSpPr>
            <a:spLocks noGrp="1"/>
          </p:cNvSpPr>
          <p:nvPr>
            <p:ph type="title"/>
          </p:nvPr>
        </p:nvSpPr>
        <p:spPr/>
        <p:txBody>
          <a:bodyPr/>
          <a:lstStyle/>
          <a:p>
            <a:r>
              <a:rPr lang="en-US" dirty="0"/>
              <a:t>Limits of debugging</a:t>
            </a:r>
          </a:p>
        </p:txBody>
      </p:sp>
      <p:sp>
        <p:nvSpPr>
          <p:cNvPr id="3" name="Content Placeholder 2">
            <a:extLst>
              <a:ext uri="{FF2B5EF4-FFF2-40B4-BE49-F238E27FC236}">
                <a16:creationId xmlns:a16="http://schemas.microsoft.com/office/drawing/2014/main" id="{224B6D65-0AE4-D370-F075-FEB49871DCBA}"/>
              </a:ext>
            </a:extLst>
          </p:cNvPr>
          <p:cNvSpPr>
            <a:spLocks noGrp="1"/>
          </p:cNvSpPr>
          <p:nvPr>
            <p:ph idx="1"/>
          </p:nvPr>
        </p:nvSpPr>
        <p:spPr/>
        <p:txBody>
          <a:bodyPr/>
          <a:lstStyle/>
          <a:p>
            <a:pPr algn="l">
              <a:buFont typeface="Arial" panose="020B0604020202020204" pitchFamily="34" charset="0"/>
              <a:buChar char="•"/>
            </a:pPr>
            <a:r>
              <a:rPr lang="en-AU" b="0" i="0" dirty="0">
                <a:solidFill>
                  <a:srgbClr val="D1D5DB"/>
                </a:solidFill>
                <a:effectLst/>
                <a:latin typeface="Söhne"/>
              </a:rPr>
              <a:t>Not all issues are immediately reproducible.</a:t>
            </a:r>
          </a:p>
          <a:p>
            <a:pPr algn="l">
              <a:buFont typeface="Arial" panose="020B0604020202020204" pitchFamily="34" charset="0"/>
              <a:buChar char="•"/>
            </a:pPr>
            <a:r>
              <a:rPr lang="en-AU" b="0" i="0" dirty="0">
                <a:solidFill>
                  <a:srgbClr val="D1D5DB"/>
                </a:solidFill>
                <a:effectLst/>
                <a:latin typeface="Söhne"/>
              </a:rPr>
              <a:t>Debugging does not provide insights into the program's performance in different environments.</a:t>
            </a:r>
          </a:p>
          <a:p>
            <a:endParaRPr lang="en-US" dirty="0"/>
          </a:p>
        </p:txBody>
      </p:sp>
    </p:spTree>
    <p:extLst>
      <p:ext uri="{BB962C8B-B14F-4D97-AF65-F5344CB8AC3E}">
        <p14:creationId xmlns:p14="http://schemas.microsoft.com/office/powerpoint/2010/main" val="39289460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BDFCA-E568-B696-A3EC-A3A806EC9D28}"/>
              </a:ext>
            </a:extLst>
          </p:cNvPr>
          <p:cNvSpPr>
            <a:spLocks noGrp="1"/>
          </p:cNvSpPr>
          <p:nvPr>
            <p:ph type="title"/>
          </p:nvPr>
        </p:nvSpPr>
        <p:spPr/>
        <p:txBody>
          <a:bodyPr/>
          <a:lstStyle/>
          <a:p>
            <a:r>
              <a:rPr lang="en-US" dirty="0"/>
              <a:t>Enter logging</a:t>
            </a:r>
          </a:p>
        </p:txBody>
      </p:sp>
      <p:sp>
        <p:nvSpPr>
          <p:cNvPr id="3" name="Content Placeholder 2">
            <a:extLst>
              <a:ext uri="{FF2B5EF4-FFF2-40B4-BE49-F238E27FC236}">
                <a16:creationId xmlns:a16="http://schemas.microsoft.com/office/drawing/2014/main" id="{5F4E01F4-8CE0-5E35-CDCD-E0A068D85960}"/>
              </a:ext>
            </a:extLst>
          </p:cNvPr>
          <p:cNvSpPr>
            <a:spLocks noGrp="1"/>
          </p:cNvSpPr>
          <p:nvPr>
            <p:ph idx="1"/>
          </p:nvPr>
        </p:nvSpPr>
        <p:spPr/>
        <p:txBody>
          <a:bodyPr>
            <a:normAutofit fontScale="92500"/>
          </a:bodyPr>
          <a:lstStyle/>
          <a:p>
            <a:pPr algn="l">
              <a:buFont typeface="Arial" panose="020B0604020202020204" pitchFamily="34" charset="0"/>
              <a:buChar char="•"/>
            </a:pPr>
            <a:r>
              <a:rPr lang="en-AU" b="1" i="0" dirty="0">
                <a:solidFill>
                  <a:srgbClr val="D1D5DB"/>
                </a:solidFill>
                <a:effectLst/>
              </a:rPr>
              <a:t>Logging</a:t>
            </a:r>
            <a:r>
              <a:rPr lang="en-AU" b="0" i="0" dirty="0">
                <a:solidFill>
                  <a:srgbClr val="D1D5DB"/>
                </a:solidFill>
                <a:effectLst/>
              </a:rPr>
              <a:t>: Systematic recording of events in an application.</a:t>
            </a:r>
          </a:p>
          <a:p>
            <a:pPr algn="l">
              <a:buFont typeface="Arial" panose="020B0604020202020204" pitchFamily="34" charset="0"/>
              <a:buChar char="•"/>
            </a:pPr>
            <a:r>
              <a:rPr lang="en-AU" b="1" i="0" dirty="0">
                <a:solidFill>
                  <a:srgbClr val="D1D5DB"/>
                </a:solidFill>
                <a:effectLst/>
              </a:rPr>
              <a:t>When Logging is more suitable</a:t>
            </a:r>
            <a:r>
              <a:rPr lang="en-AU" b="0" i="0" dirty="0">
                <a:solidFill>
                  <a:srgbClr val="D1D5DB"/>
                </a:solidFill>
                <a:effectLst/>
              </a:rPr>
              <a:t>:</a:t>
            </a:r>
          </a:p>
          <a:p>
            <a:pPr marL="742950" lvl="1" indent="-285750" algn="l">
              <a:buFont typeface="Arial" panose="020B0604020202020204" pitchFamily="34" charset="0"/>
              <a:buChar char="•"/>
            </a:pPr>
            <a:r>
              <a:rPr lang="en-AU" b="0" i="0" dirty="0">
                <a:solidFill>
                  <a:srgbClr val="D1D5DB"/>
                </a:solidFill>
                <a:effectLst/>
              </a:rPr>
              <a:t>Monitoring software in real-world environments.</a:t>
            </a:r>
          </a:p>
          <a:p>
            <a:pPr marL="742950" lvl="1" indent="-285750" algn="l">
              <a:buFont typeface="Arial" panose="020B0604020202020204" pitchFamily="34" charset="0"/>
              <a:buChar char="•"/>
            </a:pPr>
            <a:r>
              <a:rPr lang="en-AU" b="0" i="0" dirty="0">
                <a:solidFill>
                  <a:srgbClr val="D1D5DB"/>
                </a:solidFill>
                <a:effectLst/>
              </a:rPr>
              <a:t>Tracing issues that are sporadic or environment-specific.</a:t>
            </a:r>
          </a:p>
          <a:p>
            <a:pPr marL="742950" lvl="1" indent="-285750" algn="l">
              <a:buFont typeface="Arial" panose="020B0604020202020204" pitchFamily="34" charset="0"/>
              <a:buChar char="•"/>
            </a:pPr>
            <a:r>
              <a:rPr lang="en-AU" b="0" i="0" dirty="0">
                <a:solidFill>
                  <a:srgbClr val="D1D5DB"/>
                </a:solidFill>
                <a:effectLst/>
              </a:rPr>
              <a:t>Reproducing a “sequence” of events in a multithreaded context*</a:t>
            </a:r>
          </a:p>
          <a:p>
            <a:pPr marL="742950" lvl="1" indent="-285750" algn="l">
              <a:buFont typeface="Arial" panose="020B0604020202020204" pitchFamily="34" charset="0"/>
              <a:buChar char="•"/>
            </a:pPr>
            <a:r>
              <a:rPr lang="en-AU" b="0" i="0" dirty="0">
                <a:solidFill>
                  <a:srgbClr val="D1D5DB"/>
                </a:solidFill>
                <a:effectLst/>
              </a:rPr>
              <a:t>Analysing problems post-occurrence.</a:t>
            </a:r>
          </a:p>
          <a:p>
            <a:pPr algn="l">
              <a:buFont typeface="Arial" panose="020B0604020202020204" pitchFamily="34" charset="0"/>
              <a:buChar char="•"/>
            </a:pPr>
            <a:r>
              <a:rPr lang="en-AU" b="1" i="0" dirty="0">
                <a:solidFill>
                  <a:srgbClr val="D1D5DB"/>
                </a:solidFill>
                <a:effectLst/>
              </a:rPr>
              <a:t>When Debugging is more suitable</a:t>
            </a:r>
            <a:r>
              <a:rPr lang="en-AU" b="0" i="0" dirty="0">
                <a:solidFill>
                  <a:srgbClr val="D1D5DB"/>
                </a:solidFill>
                <a:effectLst/>
              </a:rPr>
              <a:t>:</a:t>
            </a:r>
          </a:p>
          <a:p>
            <a:pPr marL="742950" lvl="1" indent="-285750" algn="l">
              <a:buFont typeface="Arial" panose="020B0604020202020204" pitchFamily="34" charset="0"/>
              <a:buChar char="•"/>
            </a:pPr>
            <a:r>
              <a:rPr lang="en-AU" b="0" i="0" dirty="0">
                <a:solidFill>
                  <a:srgbClr val="D1D5DB"/>
                </a:solidFill>
                <a:effectLst/>
              </a:rPr>
              <a:t>Addressing and understanding errors during development.</a:t>
            </a:r>
          </a:p>
          <a:p>
            <a:pPr marL="742950" lvl="1" indent="-285750" algn="l">
              <a:buFont typeface="Arial" panose="020B0604020202020204" pitchFamily="34" charset="0"/>
              <a:buChar char="•"/>
            </a:pPr>
            <a:r>
              <a:rPr lang="en-AU" b="0" i="0" dirty="0">
                <a:solidFill>
                  <a:srgbClr val="D1D5DB"/>
                </a:solidFill>
                <a:effectLst/>
              </a:rPr>
              <a:t>Getting real-time insights into code behaviour and state.</a:t>
            </a:r>
          </a:p>
          <a:p>
            <a:endParaRPr lang="en-US" dirty="0"/>
          </a:p>
        </p:txBody>
      </p:sp>
    </p:spTree>
    <p:extLst>
      <p:ext uri="{BB962C8B-B14F-4D97-AF65-F5344CB8AC3E}">
        <p14:creationId xmlns:p14="http://schemas.microsoft.com/office/powerpoint/2010/main" val="15604033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0CAB3D-DA3E-4828-9C9E-F40595AE411D}"/>
              </a:ext>
            </a:extLst>
          </p:cNvPr>
          <p:cNvSpPr txBox="1">
            <a:spLocks/>
          </p:cNvSpPr>
          <p:nvPr/>
        </p:nvSpPr>
        <p:spPr>
          <a:xfrm>
            <a:off x="4652433" y="2862092"/>
            <a:ext cx="2887133" cy="1003205"/>
          </a:xfrm>
          <a:prstGeom prst="rect">
            <a:avLst/>
          </a:prstGeom>
        </p:spPr>
        <p:txBody>
          <a:bodyPr anchor="ctr">
            <a:normAutofit/>
          </a:bodyPr>
          <a:lst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a:lstStyle>
          <a:p>
            <a:r>
              <a:rPr lang="en-US" dirty="0"/>
              <a:t>Activity 1</a:t>
            </a:r>
          </a:p>
        </p:txBody>
      </p:sp>
    </p:spTree>
    <p:extLst>
      <p:ext uri="{BB962C8B-B14F-4D97-AF65-F5344CB8AC3E}">
        <p14:creationId xmlns:p14="http://schemas.microsoft.com/office/powerpoint/2010/main" val="23638970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28C6B-AF38-4625-59ED-399783321C33}"/>
              </a:ext>
            </a:extLst>
          </p:cNvPr>
          <p:cNvSpPr>
            <a:spLocks noGrp="1"/>
          </p:cNvSpPr>
          <p:nvPr>
            <p:ph type="title"/>
          </p:nvPr>
        </p:nvSpPr>
        <p:spPr/>
        <p:txBody>
          <a:bodyPr/>
          <a:lstStyle/>
          <a:p>
            <a:r>
              <a:rPr lang="en-US" dirty="0"/>
              <a:t>Documenting CODE </a:t>
            </a:r>
          </a:p>
        </p:txBody>
      </p:sp>
      <p:sp>
        <p:nvSpPr>
          <p:cNvPr id="3" name="Text Placeholder 2">
            <a:extLst>
              <a:ext uri="{FF2B5EF4-FFF2-40B4-BE49-F238E27FC236}">
                <a16:creationId xmlns:a16="http://schemas.microsoft.com/office/drawing/2014/main" id="{0350A2F8-B6CB-ECAF-3413-69556A2B26C9}"/>
              </a:ext>
            </a:extLst>
          </p:cNvPr>
          <p:cNvSpPr>
            <a:spLocks noGrp="1"/>
          </p:cNvSpPr>
          <p:nvPr>
            <p:ph type="body" idx="1"/>
          </p:nvPr>
        </p:nvSpPr>
        <p:spPr/>
        <p:txBody>
          <a:bodyPr/>
          <a:lstStyle/>
          <a:p>
            <a:r>
              <a:rPr lang="en-US" dirty="0"/>
              <a:t>Part 2</a:t>
            </a:r>
          </a:p>
        </p:txBody>
      </p:sp>
    </p:spTree>
    <p:extLst>
      <p:ext uri="{BB962C8B-B14F-4D97-AF65-F5344CB8AC3E}">
        <p14:creationId xmlns:p14="http://schemas.microsoft.com/office/powerpoint/2010/main" val="3272196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9B258E-464E-D5F4-2ED2-BD1D477A7839}"/>
              </a:ext>
            </a:extLst>
          </p:cNvPr>
          <p:cNvSpPr>
            <a:spLocks noGrp="1"/>
          </p:cNvSpPr>
          <p:nvPr>
            <p:ph type="title"/>
          </p:nvPr>
        </p:nvSpPr>
        <p:spPr/>
        <p:txBody>
          <a:bodyPr/>
          <a:lstStyle/>
          <a:p>
            <a:r>
              <a:rPr lang="en-US" dirty="0"/>
              <a:t>Conceptual</a:t>
            </a:r>
          </a:p>
        </p:txBody>
      </p:sp>
      <p:sp>
        <p:nvSpPr>
          <p:cNvPr id="5" name="Content Placeholder 4">
            <a:extLst>
              <a:ext uri="{FF2B5EF4-FFF2-40B4-BE49-F238E27FC236}">
                <a16:creationId xmlns:a16="http://schemas.microsoft.com/office/drawing/2014/main" id="{46A421C1-083B-073C-889D-BCB7CDD0DE3C}"/>
              </a:ext>
            </a:extLst>
          </p:cNvPr>
          <p:cNvSpPr>
            <a:spLocks noGrp="1"/>
          </p:cNvSpPr>
          <p:nvPr>
            <p:ph idx="1"/>
          </p:nvPr>
        </p:nvSpPr>
        <p:spPr/>
        <p:txBody>
          <a:bodyPr/>
          <a:lstStyle/>
          <a:p>
            <a:pPr marL="0" indent="0">
              <a:buNone/>
            </a:pPr>
            <a:r>
              <a:rPr lang="en-US" b="1" dirty="0"/>
              <a:t>Documentation as code</a:t>
            </a:r>
          </a:p>
          <a:p>
            <a:r>
              <a:rPr lang="en-AU" dirty="0"/>
              <a:t>docstrings within functions, classes, and modules are a good example of "Documentation as Code." </a:t>
            </a:r>
          </a:p>
          <a:p>
            <a:r>
              <a:rPr lang="en-AU" dirty="0"/>
              <a:t>automatically compiled into documentation using tools like Sphinx or </a:t>
            </a:r>
            <a:r>
              <a:rPr lang="en-AU" dirty="0" err="1"/>
              <a:t>MkDocs</a:t>
            </a:r>
            <a:r>
              <a:rPr lang="en-AU" dirty="0"/>
              <a:t>.</a:t>
            </a:r>
            <a:endParaRPr lang="en-US" dirty="0"/>
          </a:p>
        </p:txBody>
      </p:sp>
    </p:spTree>
    <p:extLst>
      <p:ext uri="{BB962C8B-B14F-4D97-AF65-F5344CB8AC3E}">
        <p14:creationId xmlns:p14="http://schemas.microsoft.com/office/powerpoint/2010/main" val="1258096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9B258E-464E-D5F4-2ED2-BD1D477A7839}"/>
              </a:ext>
            </a:extLst>
          </p:cNvPr>
          <p:cNvSpPr>
            <a:spLocks noGrp="1"/>
          </p:cNvSpPr>
          <p:nvPr>
            <p:ph type="title"/>
          </p:nvPr>
        </p:nvSpPr>
        <p:spPr/>
        <p:txBody>
          <a:bodyPr/>
          <a:lstStyle/>
          <a:p>
            <a:r>
              <a:rPr lang="en-US" dirty="0"/>
              <a:t>Conceptual</a:t>
            </a:r>
          </a:p>
        </p:txBody>
      </p:sp>
      <p:sp>
        <p:nvSpPr>
          <p:cNvPr id="5" name="Content Placeholder 4">
            <a:extLst>
              <a:ext uri="{FF2B5EF4-FFF2-40B4-BE49-F238E27FC236}">
                <a16:creationId xmlns:a16="http://schemas.microsoft.com/office/drawing/2014/main" id="{46A421C1-083B-073C-889D-BCB7CDD0DE3C}"/>
              </a:ext>
            </a:extLst>
          </p:cNvPr>
          <p:cNvSpPr>
            <a:spLocks noGrp="1"/>
          </p:cNvSpPr>
          <p:nvPr>
            <p:ph idx="1"/>
          </p:nvPr>
        </p:nvSpPr>
        <p:spPr/>
        <p:txBody>
          <a:bodyPr/>
          <a:lstStyle/>
          <a:p>
            <a:pPr marL="0" indent="0">
              <a:buNone/>
            </a:pPr>
            <a:r>
              <a:rPr lang="en-US" b="1" dirty="0"/>
              <a:t>Multi-modal documentation </a:t>
            </a:r>
          </a:p>
          <a:p>
            <a:r>
              <a:rPr lang="en-AU" dirty="0"/>
              <a:t>Traditional text-based documentation </a:t>
            </a:r>
          </a:p>
          <a:p>
            <a:r>
              <a:rPr lang="en-AU" dirty="0"/>
              <a:t>Software like </a:t>
            </a:r>
            <a:r>
              <a:rPr lang="en-AU" dirty="0" err="1"/>
              <a:t>Jupyter</a:t>
            </a:r>
            <a:r>
              <a:rPr lang="en-AU" dirty="0"/>
              <a:t> notebooks showing how to use the code interactively.</a:t>
            </a:r>
          </a:p>
          <a:p>
            <a:r>
              <a:rPr lang="en-AU" dirty="0"/>
              <a:t>Flowcharts illustrating the architecture </a:t>
            </a:r>
          </a:p>
          <a:p>
            <a:endParaRPr lang="en-US" dirty="0"/>
          </a:p>
        </p:txBody>
      </p:sp>
    </p:spTree>
    <p:extLst>
      <p:ext uri="{BB962C8B-B14F-4D97-AF65-F5344CB8AC3E}">
        <p14:creationId xmlns:p14="http://schemas.microsoft.com/office/powerpoint/2010/main" val="13135974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9B258E-464E-D5F4-2ED2-BD1D477A7839}"/>
              </a:ext>
            </a:extLst>
          </p:cNvPr>
          <p:cNvSpPr>
            <a:spLocks noGrp="1"/>
          </p:cNvSpPr>
          <p:nvPr>
            <p:ph type="title"/>
          </p:nvPr>
        </p:nvSpPr>
        <p:spPr/>
        <p:txBody>
          <a:bodyPr/>
          <a:lstStyle/>
          <a:p>
            <a:r>
              <a:rPr lang="en-US" dirty="0"/>
              <a:t>Conceptual</a:t>
            </a:r>
          </a:p>
        </p:txBody>
      </p:sp>
      <p:sp>
        <p:nvSpPr>
          <p:cNvPr id="5" name="Content Placeholder 4">
            <a:extLst>
              <a:ext uri="{FF2B5EF4-FFF2-40B4-BE49-F238E27FC236}">
                <a16:creationId xmlns:a16="http://schemas.microsoft.com/office/drawing/2014/main" id="{46A421C1-083B-073C-889D-BCB7CDD0DE3C}"/>
              </a:ext>
            </a:extLst>
          </p:cNvPr>
          <p:cNvSpPr>
            <a:spLocks noGrp="1"/>
          </p:cNvSpPr>
          <p:nvPr>
            <p:ph idx="1"/>
          </p:nvPr>
        </p:nvSpPr>
        <p:spPr/>
        <p:txBody>
          <a:bodyPr/>
          <a:lstStyle/>
          <a:p>
            <a:pPr marL="0" indent="0">
              <a:buNone/>
            </a:pPr>
            <a:r>
              <a:rPr lang="en-US" b="1" dirty="0"/>
              <a:t>Fit with Automation - CI &amp; CD</a:t>
            </a:r>
          </a:p>
          <a:p>
            <a:pPr marL="0" indent="0">
              <a:buNone/>
            </a:pPr>
            <a:endParaRPr lang="en-US" b="1" dirty="0"/>
          </a:p>
          <a:p>
            <a:r>
              <a:rPr lang="en-AU" dirty="0"/>
              <a:t>Tools and service with build and automatically quality check our documentation before/after deployment</a:t>
            </a:r>
          </a:p>
          <a:p>
            <a:endParaRPr lang="en-US" dirty="0"/>
          </a:p>
        </p:txBody>
      </p:sp>
    </p:spTree>
    <p:extLst>
      <p:ext uri="{BB962C8B-B14F-4D97-AF65-F5344CB8AC3E}">
        <p14:creationId xmlns:p14="http://schemas.microsoft.com/office/powerpoint/2010/main" val="29423111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9B258E-464E-D5F4-2ED2-BD1D477A7839}"/>
              </a:ext>
            </a:extLst>
          </p:cNvPr>
          <p:cNvSpPr>
            <a:spLocks noGrp="1"/>
          </p:cNvSpPr>
          <p:nvPr>
            <p:ph type="title"/>
          </p:nvPr>
        </p:nvSpPr>
        <p:spPr/>
        <p:txBody>
          <a:bodyPr/>
          <a:lstStyle/>
          <a:p>
            <a:r>
              <a:rPr lang="en-US" dirty="0"/>
              <a:t>Python documentation</a:t>
            </a:r>
          </a:p>
        </p:txBody>
      </p:sp>
      <p:sp>
        <p:nvSpPr>
          <p:cNvPr id="5" name="Content Placeholder 4">
            <a:extLst>
              <a:ext uri="{FF2B5EF4-FFF2-40B4-BE49-F238E27FC236}">
                <a16:creationId xmlns:a16="http://schemas.microsoft.com/office/drawing/2014/main" id="{46A421C1-083B-073C-889D-BCB7CDD0DE3C}"/>
              </a:ext>
            </a:extLst>
          </p:cNvPr>
          <p:cNvSpPr>
            <a:spLocks noGrp="1"/>
          </p:cNvSpPr>
          <p:nvPr>
            <p:ph idx="1"/>
          </p:nvPr>
        </p:nvSpPr>
        <p:spPr/>
        <p:txBody>
          <a:bodyPr/>
          <a:lstStyle/>
          <a:p>
            <a:r>
              <a:rPr lang="en-US" dirty="0"/>
              <a:t>A multi-line string in key positions is a </a:t>
            </a:r>
            <a:r>
              <a:rPr lang="en-US" b="1" dirty="0"/>
              <a:t>docstring</a:t>
            </a:r>
          </a:p>
          <a:p>
            <a:r>
              <a:rPr lang="en-US" dirty="0"/>
              <a:t>Module, class, and function/method docstring</a:t>
            </a:r>
          </a:p>
          <a:p>
            <a:r>
              <a:rPr lang="en-US" dirty="0"/>
              <a:t>Automagically populates help(), IDE tips</a:t>
            </a:r>
          </a:p>
          <a:p>
            <a:r>
              <a:rPr lang="en-US" dirty="0"/>
              <a:t>Stored in __doc__ variable</a:t>
            </a:r>
          </a:p>
          <a:p>
            <a:r>
              <a:rPr lang="en-US" dirty="0"/>
              <a:t>Can include </a:t>
            </a:r>
            <a:r>
              <a:rPr lang="en-US" dirty="0" err="1"/>
              <a:t>doctests</a:t>
            </a:r>
            <a:endParaRPr lang="en-US" dirty="0"/>
          </a:p>
          <a:p>
            <a:r>
              <a:rPr lang="en-US" dirty="0">
                <a:sym typeface="Wingdings" pitchFamily="2" charset="2"/>
              </a:rPr>
              <a:t>Leveraged by </a:t>
            </a:r>
            <a:r>
              <a:rPr lang="en-US" dirty="0" err="1">
                <a:sym typeface="Wingdings" pitchFamily="2" charset="2"/>
              </a:rPr>
              <a:t>pydoc</a:t>
            </a:r>
            <a:endParaRPr lang="en-US" dirty="0"/>
          </a:p>
          <a:p>
            <a:endParaRPr lang="en-US" dirty="0"/>
          </a:p>
        </p:txBody>
      </p:sp>
    </p:spTree>
    <p:extLst>
      <p:ext uri="{BB962C8B-B14F-4D97-AF65-F5344CB8AC3E}">
        <p14:creationId xmlns:p14="http://schemas.microsoft.com/office/powerpoint/2010/main" val="35093697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3F558-0FB1-38D5-48FD-359925596E24}"/>
              </a:ext>
            </a:extLst>
          </p:cNvPr>
          <p:cNvSpPr>
            <a:spLocks noGrp="1"/>
          </p:cNvSpPr>
          <p:nvPr>
            <p:ph type="title"/>
          </p:nvPr>
        </p:nvSpPr>
        <p:spPr/>
        <p:txBody>
          <a:bodyPr/>
          <a:lstStyle/>
          <a:p>
            <a:r>
              <a:rPr lang="en-US" dirty="0" err="1"/>
              <a:t>Pydoc</a:t>
            </a:r>
            <a:endParaRPr lang="en-US" dirty="0"/>
          </a:p>
        </p:txBody>
      </p:sp>
      <p:sp>
        <p:nvSpPr>
          <p:cNvPr id="7" name="TextBox 6">
            <a:extLst>
              <a:ext uri="{FF2B5EF4-FFF2-40B4-BE49-F238E27FC236}">
                <a16:creationId xmlns:a16="http://schemas.microsoft.com/office/drawing/2014/main" id="{238EC473-3863-64A9-54B3-67247ACE6336}"/>
              </a:ext>
            </a:extLst>
          </p:cNvPr>
          <p:cNvSpPr txBox="1"/>
          <p:nvPr/>
        </p:nvSpPr>
        <p:spPr>
          <a:xfrm>
            <a:off x="759049" y="3153329"/>
            <a:ext cx="3514568" cy="984885"/>
          </a:xfrm>
          <a:prstGeom prst="rect">
            <a:avLst/>
          </a:prstGeom>
          <a:noFill/>
        </p:spPr>
        <p:txBody>
          <a:bodyPr wrap="square">
            <a:spAutoFit/>
          </a:bodyPr>
          <a:lstStyle/>
          <a:p>
            <a:r>
              <a:rPr lang="en-US" sz="1600" dirty="0">
                <a:solidFill>
                  <a:schemeClr val="accent3"/>
                </a:solidFill>
                <a:latin typeface="Courier New" panose="02070309020205020404" pitchFamily="49" charset="0"/>
                <a:cs typeface="Courier New" panose="02070309020205020404" pitchFamily="49" charset="0"/>
              </a:rPr>
              <a:t># Run this in your terminal</a:t>
            </a:r>
          </a:p>
          <a:p>
            <a:r>
              <a:rPr lang="en-US" sz="1400" dirty="0">
                <a:solidFill>
                  <a:schemeClr val="bg1"/>
                </a:solidFill>
                <a:latin typeface="Courier New" panose="02070309020205020404" pitchFamily="49" charset="0"/>
                <a:cs typeface="Courier New" panose="02070309020205020404" pitchFamily="49" charset="0"/>
              </a:rPr>
              <a:t>pip install </a:t>
            </a:r>
            <a:r>
              <a:rPr lang="en-US" sz="1400" dirty="0" err="1">
                <a:solidFill>
                  <a:schemeClr val="bg1"/>
                </a:solidFill>
                <a:latin typeface="Courier New" panose="02070309020205020404" pitchFamily="49" charset="0"/>
                <a:cs typeface="Courier New" panose="02070309020205020404" pitchFamily="49" charset="0"/>
              </a:rPr>
              <a:t>pydoc</a:t>
            </a:r>
            <a:r>
              <a:rPr lang="en-US" sz="1400" dirty="0">
                <a:solidFill>
                  <a:schemeClr val="bg1"/>
                </a:solidFill>
                <a:latin typeface="Courier New" panose="02070309020205020404" pitchFamily="49" charset="0"/>
                <a:cs typeface="Courier New" panose="02070309020205020404" pitchFamily="49" charset="0"/>
              </a:rPr>
              <a:t> </a:t>
            </a:r>
          </a:p>
          <a:p>
            <a:r>
              <a:rPr lang="en-AU" sz="1400" dirty="0">
                <a:solidFill>
                  <a:schemeClr val="bg1"/>
                </a:solidFill>
                <a:effectLst/>
                <a:latin typeface="Courier New" panose="02070309020205020404" pitchFamily="49" charset="0"/>
                <a:cs typeface="Courier New" panose="02070309020205020404" pitchFamily="49" charset="0"/>
              </a:rPr>
              <a:t>python -m </a:t>
            </a:r>
            <a:r>
              <a:rPr lang="en-AU" sz="1400" dirty="0" err="1">
                <a:solidFill>
                  <a:schemeClr val="bg1"/>
                </a:solidFill>
                <a:effectLst/>
                <a:latin typeface="Courier New" panose="02070309020205020404" pitchFamily="49" charset="0"/>
                <a:cs typeface="Courier New" panose="02070309020205020404" pitchFamily="49" charset="0"/>
              </a:rPr>
              <a:t>pydoc</a:t>
            </a:r>
            <a:r>
              <a:rPr lang="en-AU" sz="1400" dirty="0">
                <a:solidFill>
                  <a:schemeClr val="bg1"/>
                </a:solidFill>
                <a:effectLst/>
                <a:latin typeface="Courier New" panose="02070309020205020404" pitchFamily="49" charset="0"/>
                <a:cs typeface="Courier New" panose="02070309020205020404" pitchFamily="49" charset="0"/>
              </a:rPr>
              <a:t> -p 1234</a:t>
            </a:r>
          </a:p>
          <a:p>
            <a:endParaRPr lang="en-AU" sz="1400" dirty="0">
              <a:solidFill>
                <a:schemeClr val="bg1"/>
              </a:solidFill>
              <a:latin typeface="Courier New" panose="02070309020205020404" pitchFamily="49" charset="0"/>
              <a:cs typeface="Courier New" panose="02070309020205020404" pitchFamily="49" charset="0"/>
            </a:endParaRPr>
          </a:p>
        </p:txBody>
      </p:sp>
      <p:pic>
        <p:nvPicPr>
          <p:cNvPr id="4" name="Picture 3">
            <a:extLst>
              <a:ext uri="{FF2B5EF4-FFF2-40B4-BE49-F238E27FC236}">
                <a16:creationId xmlns:a16="http://schemas.microsoft.com/office/drawing/2014/main" id="{FA711166-A59E-4911-B2BA-64013CCE72B5}"/>
              </a:ext>
            </a:extLst>
          </p:cNvPr>
          <p:cNvPicPr>
            <a:picLocks noChangeAspect="1"/>
          </p:cNvPicPr>
          <p:nvPr/>
        </p:nvPicPr>
        <p:blipFill>
          <a:blip r:embed="rId3"/>
          <a:stretch>
            <a:fillRect/>
          </a:stretch>
        </p:blipFill>
        <p:spPr>
          <a:xfrm>
            <a:off x="4360245" y="1778931"/>
            <a:ext cx="7426419" cy="3640091"/>
          </a:xfrm>
          <a:prstGeom prst="rect">
            <a:avLst/>
          </a:prstGeom>
        </p:spPr>
      </p:pic>
      <p:sp>
        <p:nvSpPr>
          <p:cNvPr id="8" name="TextBox 7">
            <a:extLst>
              <a:ext uri="{FF2B5EF4-FFF2-40B4-BE49-F238E27FC236}">
                <a16:creationId xmlns:a16="http://schemas.microsoft.com/office/drawing/2014/main" id="{D173328F-D2E7-49C0-92FB-07CF143BD56A}"/>
              </a:ext>
            </a:extLst>
          </p:cNvPr>
          <p:cNvSpPr txBox="1"/>
          <p:nvPr/>
        </p:nvSpPr>
        <p:spPr>
          <a:xfrm>
            <a:off x="759049" y="5694856"/>
            <a:ext cx="10233002" cy="369332"/>
          </a:xfrm>
          <a:prstGeom prst="rect">
            <a:avLst/>
          </a:prstGeom>
          <a:noFill/>
        </p:spPr>
        <p:txBody>
          <a:bodyPr wrap="square">
            <a:spAutoFit/>
          </a:bodyPr>
          <a:lstStyle/>
          <a:p>
            <a:r>
              <a:rPr lang="en-AU" b="1" dirty="0">
                <a:solidFill>
                  <a:schemeClr val="bg1"/>
                </a:solidFill>
                <a:cs typeface="Courier New" panose="02070309020205020404" pitchFamily="49" charset="0"/>
              </a:rPr>
              <a:t>Notice</a:t>
            </a:r>
            <a:r>
              <a:rPr lang="en-AU" dirty="0">
                <a:solidFill>
                  <a:schemeClr val="bg1"/>
                </a:solidFill>
                <a:cs typeface="Courier New" panose="02070309020205020404" pitchFamily="49" charset="0"/>
              </a:rPr>
              <a:t> that the </a:t>
            </a:r>
            <a:r>
              <a:rPr lang="en-AU" b="1" i="1" dirty="0">
                <a:solidFill>
                  <a:srgbClr val="FFC000"/>
                </a:solidFill>
                <a:cs typeface="Courier New" panose="02070309020205020404" pitchFamily="49" charset="0"/>
              </a:rPr>
              <a:t>help() </a:t>
            </a:r>
            <a:r>
              <a:rPr lang="en-AU" dirty="0">
                <a:solidFill>
                  <a:schemeClr val="bg1"/>
                </a:solidFill>
                <a:cs typeface="Courier New" panose="02070309020205020404" pitchFamily="49" charset="0"/>
              </a:rPr>
              <a:t>function is used to produce docs for your installed python versions</a:t>
            </a:r>
            <a:endParaRPr lang="en-US" dirty="0">
              <a:solidFill>
                <a:schemeClr val="bg1"/>
              </a:solidFill>
              <a:cs typeface="Courier New" panose="02070309020205020404" pitchFamily="49" charset="0"/>
            </a:endParaRPr>
          </a:p>
        </p:txBody>
      </p:sp>
    </p:spTree>
    <p:extLst>
      <p:ext uri="{BB962C8B-B14F-4D97-AF65-F5344CB8AC3E}">
        <p14:creationId xmlns:p14="http://schemas.microsoft.com/office/powerpoint/2010/main" val="1919746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3F558-0FB1-38D5-48FD-359925596E24}"/>
              </a:ext>
            </a:extLst>
          </p:cNvPr>
          <p:cNvSpPr>
            <a:spLocks noGrp="1"/>
          </p:cNvSpPr>
          <p:nvPr>
            <p:ph type="title"/>
          </p:nvPr>
        </p:nvSpPr>
        <p:spPr/>
        <p:txBody>
          <a:bodyPr/>
          <a:lstStyle/>
          <a:p>
            <a:r>
              <a:rPr lang="en-US" dirty="0" err="1"/>
              <a:t>Pydoc</a:t>
            </a:r>
            <a:r>
              <a:rPr lang="en-US" dirty="0"/>
              <a:t> Commands</a:t>
            </a:r>
          </a:p>
        </p:txBody>
      </p:sp>
      <p:sp>
        <p:nvSpPr>
          <p:cNvPr id="7" name="TextBox 6">
            <a:extLst>
              <a:ext uri="{FF2B5EF4-FFF2-40B4-BE49-F238E27FC236}">
                <a16:creationId xmlns:a16="http://schemas.microsoft.com/office/drawing/2014/main" id="{238EC473-3863-64A9-54B3-67247ACE6336}"/>
              </a:ext>
            </a:extLst>
          </p:cNvPr>
          <p:cNvSpPr txBox="1"/>
          <p:nvPr/>
        </p:nvSpPr>
        <p:spPr>
          <a:xfrm>
            <a:off x="1826720" y="1500817"/>
            <a:ext cx="8135427" cy="4832092"/>
          </a:xfrm>
          <a:prstGeom prst="rect">
            <a:avLst/>
          </a:prstGeom>
          <a:noFill/>
        </p:spPr>
        <p:txBody>
          <a:bodyPr wrap="square">
            <a:spAutoFit/>
          </a:bodyPr>
          <a:lstStyle/>
          <a:p>
            <a:r>
              <a:rPr lang="en-US" sz="1400" dirty="0">
                <a:solidFill>
                  <a:schemeClr val="bg1"/>
                </a:solidFill>
                <a:latin typeface="Courier New" panose="02070309020205020404" pitchFamily="49" charset="0"/>
                <a:cs typeface="Courier New" panose="02070309020205020404" pitchFamily="49" charset="0"/>
              </a:rPr>
              <a:t>❯ python -m </a:t>
            </a:r>
            <a:r>
              <a:rPr lang="en-US" sz="1400" dirty="0" err="1">
                <a:solidFill>
                  <a:schemeClr val="bg1"/>
                </a:solidFill>
                <a:latin typeface="Courier New" panose="02070309020205020404" pitchFamily="49" charset="0"/>
                <a:cs typeface="Courier New" panose="02070309020205020404" pitchFamily="49" charset="0"/>
              </a:rPr>
              <a:t>pydoc</a:t>
            </a:r>
            <a:r>
              <a:rPr lang="en-US" sz="1400" dirty="0">
                <a:solidFill>
                  <a:schemeClr val="bg1"/>
                </a:solidFill>
                <a:latin typeface="Courier New" panose="02070309020205020404" pitchFamily="49" charset="0"/>
                <a:cs typeface="Courier New" panose="02070309020205020404" pitchFamily="49" charset="0"/>
              </a:rPr>
              <a:t> --help</a:t>
            </a:r>
          </a:p>
          <a:p>
            <a:r>
              <a:rPr lang="en-US" sz="1400" dirty="0" err="1">
                <a:solidFill>
                  <a:schemeClr val="bg1"/>
                </a:solidFill>
                <a:latin typeface="Courier New" panose="02070309020205020404" pitchFamily="49" charset="0"/>
                <a:cs typeface="Courier New" panose="02070309020205020404" pitchFamily="49" charset="0"/>
              </a:rPr>
              <a:t>pydoc</a:t>
            </a:r>
            <a:r>
              <a:rPr lang="en-US" sz="1400" dirty="0">
                <a:solidFill>
                  <a:schemeClr val="bg1"/>
                </a:solidFill>
                <a:latin typeface="Courier New" panose="02070309020205020404" pitchFamily="49" charset="0"/>
                <a:cs typeface="Courier New" panose="02070309020205020404" pitchFamily="49" charset="0"/>
              </a:rPr>
              <a:t> - the Python documentation tool</a:t>
            </a:r>
          </a:p>
          <a:p>
            <a:endParaRPr lang="en-US" sz="1400" dirty="0">
              <a:solidFill>
                <a:schemeClr val="bg1"/>
              </a:solidFill>
              <a:latin typeface="Courier New" panose="02070309020205020404" pitchFamily="49" charset="0"/>
              <a:cs typeface="Courier New" panose="02070309020205020404" pitchFamily="49" charset="0"/>
            </a:endParaRPr>
          </a:p>
          <a:p>
            <a:r>
              <a:rPr lang="en-US" sz="1400" dirty="0" err="1">
                <a:solidFill>
                  <a:schemeClr val="bg1"/>
                </a:solidFill>
                <a:latin typeface="Courier New" panose="02070309020205020404" pitchFamily="49" charset="0"/>
                <a:cs typeface="Courier New" panose="02070309020205020404" pitchFamily="49" charset="0"/>
              </a:rPr>
              <a:t>pydoc</a:t>
            </a:r>
            <a:r>
              <a:rPr lang="en-US" sz="1400" dirty="0">
                <a:solidFill>
                  <a:schemeClr val="bg1"/>
                </a:solidFill>
                <a:latin typeface="Courier New" panose="02070309020205020404" pitchFamily="49" charset="0"/>
                <a:cs typeface="Courier New" panose="02070309020205020404" pitchFamily="49" charset="0"/>
              </a:rPr>
              <a:t> &lt;name&gt; ...</a:t>
            </a:r>
          </a:p>
          <a:p>
            <a:r>
              <a:rPr lang="en-US" sz="1400" dirty="0">
                <a:solidFill>
                  <a:schemeClr val="bg1"/>
                </a:solidFill>
                <a:latin typeface="Courier New" panose="02070309020205020404" pitchFamily="49" charset="0"/>
                <a:cs typeface="Courier New" panose="02070309020205020404" pitchFamily="49" charset="0"/>
              </a:rPr>
              <a:t>    Show text documentation on something.  </a:t>
            </a:r>
          </a:p>
          <a:p>
            <a:r>
              <a:rPr lang="en-US" sz="1400" dirty="0" err="1">
                <a:solidFill>
                  <a:schemeClr val="bg1"/>
                </a:solidFill>
                <a:latin typeface="Courier New" panose="02070309020205020404" pitchFamily="49" charset="0"/>
                <a:cs typeface="Courier New" panose="02070309020205020404" pitchFamily="49" charset="0"/>
              </a:rPr>
              <a:t>pydoc</a:t>
            </a:r>
            <a:r>
              <a:rPr lang="en-US" sz="1400" dirty="0">
                <a:solidFill>
                  <a:schemeClr val="bg1"/>
                </a:solidFill>
                <a:latin typeface="Courier New" panose="02070309020205020404" pitchFamily="49" charset="0"/>
                <a:cs typeface="Courier New" panose="02070309020205020404" pitchFamily="49" charset="0"/>
              </a:rPr>
              <a:t> -k &lt;keyword&gt;</a:t>
            </a:r>
          </a:p>
          <a:p>
            <a:r>
              <a:rPr lang="en-US" sz="1400" dirty="0">
                <a:solidFill>
                  <a:schemeClr val="bg1"/>
                </a:solidFill>
                <a:latin typeface="Courier New" panose="02070309020205020404" pitchFamily="49" charset="0"/>
                <a:cs typeface="Courier New" panose="02070309020205020404" pitchFamily="49" charset="0"/>
              </a:rPr>
              <a:t>    Search for a keyword in the synopsis lines of all available modules.</a:t>
            </a:r>
          </a:p>
          <a:p>
            <a:endParaRPr lang="en-US" sz="1400" dirty="0">
              <a:solidFill>
                <a:schemeClr val="bg1"/>
              </a:solidFill>
              <a:latin typeface="Courier New" panose="02070309020205020404" pitchFamily="49" charset="0"/>
              <a:cs typeface="Courier New" panose="02070309020205020404" pitchFamily="49" charset="0"/>
            </a:endParaRPr>
          </a:p>
          <a:p>
            <a:r>
              <a:rPr lang="en-US" sz="1400" dirty="0" err="1">
                <a:solidFill>
                  <a:schemeClr val="bg1"/>
                </a:solidFill>
                <a:latin typeface="Courier New" panose="02070309020205020404" pitchFamily="49" charset="0"/>
                <a:cs typeface="Courier New" panose="02070309020205020404" pitchFamily="49" charset="0"/>
              </a:rPr>
              <a:t>pydoc</a:t>
            </a:r>
            <a:r>
              <a:rPr lang="en-US" sz="1400" dirty="0">
                <a:solidFill>
                  <a:schemeClr val="bg1"/>
                </a:solidFill>
                <a:latin typeface="Courier New" panose="02070309020205020404" pitchFamily="49" charset="0"/>
                <a:cs typeface="Courier New" panose="02070309020205020404" pitchFamily="49" charset="0"/>
              </a:rPr>
              <a:t> -n &lt;hostname&gt;</a:t>
            </a:r>
          </a:p>
          <a:p>
            <a:r>
              <a:rPr lang="en-US" sz="1400" dirty="0">
                <a:solidFill>
                  <a:schemeClr val="bg1"/>
                </a:solidFill>
                <a:latin typeface="Courier New" panose="02070309020205020404" pitchFamily="49" charset="0"/>
                <a:cs typeface="Courier New" panose="02070309020205020404" pitchFamily="49" charset="0"/>
              </a:rPr>
              <a:t>    Start an HTTP server with the given hostname (default: localhost).</a:t>
            </a:r>
          </a:p>
          <a:p>
            <a:endParaRPr lang="en-US" sz="1400" dirty="0">
              <a:solidFill>
                <a:schemeClr val="bg1"/>
              </a:solidFill>
              <a:latin typeface="Courier New" panose="02070309020205020404" pitchFamily="49" charset="0"/>
              <a:cs typeface="Courier New" panose="02070309020205020404" pitchFamily="49" charset="0"/>
            </a:endParaRPr>
          </a:p>
          <a:p>
            <a:r>
              <a:rPr lang="en-US" sz="1400" dirty="0" err="1">
                <a:solidFill>
                  <a:schemeClr val="bg1"/>
                </a:solidFill>
                <a:latin typeface="Courier New" panose="02070309020205020404" pitchFamily="49" charset="0"/>
                <a:cs typeface="Courier New" panose="02070309020205020404" pitchFamily="49" charset="0"/>
              </a:rPr>
              <a:t>pydoc</a:t>
            </a:r>
            <a:r>
              <a:rPr lang="en-US" sz="1400" dirty="0">
                <a:solidFill>
                  <a:schemeClr val="bg1"/>
                </a:solidFill>
                <a:latin typeface="Courier New" panose="02070309020205020404" pitchFamily="49" charset="0"/>
                <a:cs typeface="Courier New" panose="02070309020205020404" pitchFamily="49" charset="0"/>
              </a:rPr>
              <a:t> -p &lt;port&gt;</a:t>
            </a:r>
          </a:p>
          <a:p>
            <a:r>
              <a:rPr lang="en-US" sz="1400" dirty="0">
                <a:solidFill>
                  <a:schemeClr val="bg1"/>
                </a:solidFill>
                <a:latin typeface="Courier New" panose="02070309020205020404" pitchFamily="49" charset="0"/>
                <a:cs typeface="Courier New" panose="02070309020205020404" pitchFamily="49" charset="0"/>
              </a:rPr>
              <a:t>    Start an HTTP server on the given port on the local machine.  Port</a:t>
            </a:r>
          </a:p>
          <a:p>
            <a:r>
              <a:rPr lang="en-US" sz="1400" dirty="0">
                <a:solidFill>
                  <a:schemeClr val="bg1"/>
                </a:solidFill>
                <a:latin typeface="Courier New" panose="02070309020205020404" pitchFamily="49" charset="0"/>
                <a:cs typeface="Courier New" panose="02070309020205020404" pitchFamily="49" charset="0"/>
              </a:rPr>
              <a:t>    number 0 can be used to get an arbitrary unused port.</a:t>
            </a:r>
          </a:p>
          <a:p>
            <a:endParaRPr lang="en-US" sz="1400" dirty="0">
              <a:solidFill>
                <a:schemeClr val="bg1"/>
              </a:solidFill>
              <a:latin typeface="Courier New" panose="02070309020205020404" pitchFamily="49" charset="0"/>
              <a:cs typeface="Courier New" panose="02070309020205020404" pitchFamily="49" charset="0"/>
            </a:endParaRPr>
          </a:p>
          <a:p>
            <a:r>
              <a:rPr lang="en-US" sz="1400" dirty="0" err="1">
                <a:solidFill>
                  <a:schemeClr val="bg1"/>
                </a:solidFill>
                <a:latin typeface="Courier New" panose="02070309020205020404" pitchFamily="49" charset="0"/>
                <a:cs typeface="Courier New" panose="02070309020205020404" pitchFamily="49" charset="0"/>
              </a:rPr>
              <a:t>pydoc</a:t>
            </a:r>
            <a:r>
              <a:rPr lang="en-US" sz="1400" dirty="0">
                <a:solidFill>
                  <a:schemeClr val="bg1"/>
                </a:solidFill>
                <a:latin typeface="Courier New" panose="02070309020205020404" pitchFamily="49" charset="0"/>
                <a:cs typeface="Courier New" panose="02070309020205020404" pitchFamily="49" charset="0"/>
              </a:rPr>
              <a:t> -b</a:t>
            </a:r>
          </a:p>
          <a:p>
            <a:r>
              <a:rPr lang="en-US" sz="1400" dirty="0">
                <a:solidFill>
                  <a:schemeClr val="bg1"/>
                </a:solidFill>
                <a:latin typeface="Courier New" panose="02070309020205020404" pitchFamily="49" charset="0"/>
                <a:cs typeface="Courier New" panose="02070309020205020404" pitchFamily="49" charset="0"/>
              </a:rPr>
              <a:t>    Start an HTTP server on an arbitrary unused port and open a web browser</a:t>
            </a:r>
          </a:p>
          <a:p>
            <a:r>
              <a:rPr lang="en-US" sz="1400" dirty="0">
                <a:solidFill>
                  <a:schemeClr val="bg1"/>
                </a:solidFill>
                <a:latin typeface="Courier New" panose="02070309020205020404" pitchFamily="49" charset="0"/>
                <a:cs typeface="Courier New" panose="02070309020205020404" pitchFamily="49" charset="0"/>
              </a:rPr>
              <a:t>    to interactively browse documentation.  </a:t>
            </a:r>
          </a:p>
          <a:p>
            <a:r>
              <a:rPr lang="en-US" sz="1400" dirty="0" err="1">
                <a:solidFill>
                  <a:schemeClr val="bg1"/>
                </a:solidFill>
                <a:latin typeface="Courier New" panose="02070309020205020404" pitchFamily="49" charset="0"/>
                <a:cs typeface="Courier New" panose="02070309020205020404" pitchFamily="49" charset="0"/>
              </a:rPr>
              <a:t>pydoc</a:t>
            </a:r>
            <a:r>
              <a:rPr lang="en-US" sz="1400" dirty="0">
                <a:solidFill>
                  <a:schemeClr val="bg1"/>
                </a:solidFill>
                <a:latin typeface="Courier New" panose="02070309020205020404" pitchFamily="49" charset="0"/>
                <a:cs typeface="Courier New" panose="02070309020205020404" pitchFamily="49" charset="0"/>
              </a:rPr>
              <a:t> -w &lt;name&gt; ...</a:t>
            </a:r>
          </a:p>
          <a:p>
            <a:r>
              <a:rPr lang="en-US" sz="1400" dirty="0">
                <a:solidFill>
                  <a:schemeClr val="bg1"/>
                </a:solidFill>
                <a:latin typeface="Courier New" panose="02070309020205020404" pitchFamily="49" charset="0"/>
                <a:cs typeface="Courier New" panose="02070309020205020404" pitchFamily="49" charset="0"/>
              </a:rPr>
              <a:t>    Write out the HTML documentation for a module to a file in the current</a:t>
            </a:r>
          </a:p>
          <a:p>
            <a:r>
              <a:rPr lang="en-US" sz="1400" dirty="0">
                <a:solidFill>
                  <a:schemeClr val="bg1"/>
                </a:solidFill>
                <a:latin typeface="Courier New" panose="02070309020205020404" pitchFamily="49" charset="0"/>
                <a:cs typeface="Courier New" panose="02070309020205020404" pitchFamily="49" charset="0"/>
              </a:rPr>
              <a:t>    directory.  </a:t>
            </a:r>
          </a:p>
        </p:txBody>
      </p:sp>
    </p:spTree>
    <p:extLst>
      <p:ext uri="{BB962C8B-B14F-4D97-AF65-F5344CB8AC3E}">
        <p14:creationId xmlns:p14="http://schemas.microsoft.com/office/powerpoint/2010/main" val="4082557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B3884-FBAC-85C8-D616-00B2CE764E5C}"/>
              </a:ext>
            </a:extLst>
          </p:cNvPr>
          <p:cNvSpPr>
            <a:spLocks noGrp="1"/>
          </p:cNvSpPr>
          <p:nvPr>
            <p:ph type="title"/>
          </p:nvPr>
        </p:nvSpPr>
        <p:spPr>
          <a:xfrm>
            <a:off x="738809" y="1384475"/>
            <a:ext cx="10972800" cy="1003205"/>
          </a:xfrm>
        </p:spPr>
        <p:txBody>
          <a:bodyPr/>
          <a:lstStyle/>
          <a:p>
            <a:r>
              <a:rPr lang="en-US" dirty="0"/>
              <a:t>Documentation standards</a:t>
            </a:r>
          </a:p>
        </p:txBody>
      </p:sp>
      <p:sp>
        <p:nvSpPr>
          <p:cNvPr id="3" name="Content Placeholder 2">
            <a:extLst>
              <a:ext uri="{FF2B5EF4-FFF2-40B4-BE49-F238E27FC236}">
                <a16:creationId xmlns:a16="http://schemas.microsoft.com/office/drawing/2014/main" id="{A51B9D25-A4DD-E86D-722A-6A2AD39741CC}"/>
              </a:ext>
            </a:extLst>
          </p:cNvPr>
          <p:cNvSpPr>
            <a:spLocks noGrp="1"/>
          </p:cNvSpPr>
          <p:nvPr>
            <p:ph idx="1"/>
          </p:nvPr>
        </p:nvSpPr>
        <p:spPr>
          <a:xfrm>
            <a:off x="907773" y="2758713"/>
            <a:ext cx="2928730" cy="1773531"/>
          </a:xfrm>
        </p:spPr>
        <p:txBody>
          <a:bodyPr/>
          <a:lstStyle/>
          <a:p>
            <a:r>
              <a:rPr lang="en-US" dirty="0"/>
              <a:t>Google</a:t>
            </a:r>
          </a:p>
          <a:p>
            <a:r>
              <a:rPr lang="en-US" dirty="0" err="1"/>
              <a:t>Numpy</a:t>
            </a:r>
            <a:endParaRPr lang="en-US" dirty="0"/>
          </a:p>
          <a:p>
            <a:r>
              <a:rPr lang="en-US" dirty="0"/>
              <a:t>Sphinx</a:t>
            </a:r>
          </a:p>
        </p:txBody>
      </p:sp>
    </p:spTree>
    <p:extLst>
      <p:ext uri="{BB962C8B-B14F-4D97-AF65-F5344CB8AC3E}">
        <p14:creationId xmlns:p14="http://schemas.microsoft.com/office/powerpoint/2010/main" val="2351762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A0F90-37A0-FFCA-DAAD-7D77FBACB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70974-23E4-A9C1-52A1-E38F5DC1BBA3}"/>
              </a:ext>
            </a:extLst>
          </p:cNvPr>
          <p:cNvSpPr>
            <a:spLocks noGrp="1"/>
          </p:cNvSpPr>
          <p:nvPr>
            <p:ph type="title"/>
          </p:nvPr>
        </p:nvSpPr>
        <p:spPr/>
        <p:txBody>
          <a:bodyPr/>
          <a:lstStyle/>
          <a:p>
            <a:r>
              <a:rPr lang="en-US" dirty="0"/>
              <a:t>Documentation</a:t>
            </a:r>
          </a:p>
        </p:txBody>
      </p:sp>
      <p:sp>
        <p:nvSpPr>
          <p:cNvPr id="3" name="Content Placeholder 2">
            <a:extLst>
              <a:ext uri="{FF2B5EF4-FFF2-40B4-BE49-F238E27FC236}">
                <a16:creationId xmlns:a16="http://schemas.microsoft.com/office/drawing/2014/main" id="{AACB43D9-27A7-ECA8-F84F-D6CDC9A7DAD4}"/>
              </a:ext>
            </a:extLst>
          </p:cNvPr>
          <p:cNvSpPr>
            <a:spLocks noGrp="1"/>
          </p:cNvSpPr>
          <p:nvPr>
            <p:ph idx="1"/>
          </p:nvPr>
        </p:nvSpPr>
        <p:spPr>
          <a:xfrm>
            <a:off x="3136900" y="3119808"/>
            <a:ext cx="5918200" cy="618383"/>
          </a:xfrm>
        </p:spPr>
        <p:txBody>
          <a:bodyPr>
            <a:noAutofit/>
          </a:bodyPr>
          <a:lstStyle/>
          <a:p>
            <a:pPr marL="0" indent="0">
              <a:buNone/>
            </a:pPr>
            <a:r>
              <a:rPr lang="en-US" sz="4000" b="1" dirty="0"/>
              <a:t>Internal vs External</a:t>
            </a:r>
          </a:p>
        </p:txBody>
      </p:sp>
    </p:spTree>
    <p:extLst>
      <p:ext uri="{BB962C8B-B14F-4D97-AF65-F5344CB8AC3E}">
        <p14:creationId xmlns:p14="http://schemas.microsoft.com/office/powerpoint/2010/main" val="28389847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F660A-4E95-A886-7C48-B50598796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949608-2110-ACF3-6939-20AD1DC1F4A7}"/>
              </a:ext>
            </a:extLst>
          </p:cNvPr>
          <p:cNvSpPr>
            <a:spLocks noGrp="1"/>
          </p:cNvSpPr>
          <p:nvPr>
            <p:ph type="title"/>
          </p:nvPr>
        </p:nvSpPr>
        <p:spPr/>
        <p:txBody>
          <a:bodyPr>
            <a:normAutofit fontScale="90000"/>
          </a:bodyPr>
          <a:lstStyle/>
          <a:p>
            <a:r>
              <a:rPr lang="en-US" dirty="0"/>
              <a:t>Documentation – Internal</a:t>
            </a:r>
            <a:br>
              <a:rPr lang="en-US" dirty="0"/>
            </a:br>
            <a:r>
              <a:rPr lang="en-US" sz="3100" i="1" dirty="0">
                <a:solidFill>
                  <a:schemeClr val="bg1">
                    <a:lumMod val="65000"/>
                  </a:schemeClr>
                </a:solidFill>
              </a:rPr>
              <a:t>You will provide this…</a:t>
            </a:r>
            <a:endParaRPr lang="en-US" sz="3100" dirty="0"/>
          </a:p>
        </p:txBody>
      </p:sp>
      <p:sp>
        <p:nvSpPr>
          <p:cNvPr id="3" name="Content Placeholder 2">
            <a:extLst>
              <a:ext uri="{FF2B5EF4-FFF2-40B4-BE49-F238E27FC236}">
                <a16:creationId xmlns:a16="http://schemas.microsoft.com/office/drawing/2014/main" id="{2783D438-657D-F097-38F1-327B4C23D047}"/>
              </a:ext>
            </a:extLst>
          </p:cNvPr>
          <p:cNvSpPr>
            <a:spLocks noGrp="1"/>
          </p:cNvSpPr>
          <p:nvPr>
            <p:ph idx="1"/>
          </p:nvPr>
        </p:nvSpPr>
        <p:spPr>
          <a:xfrm>
            <a:off x="830512" y="1820398"/>
            <a:ext cx="10972799" cy="4740823"/>
          </a:xfrm>
        </p:spPr>
        <p:txBody>
          <a:bodyPr>
            <a:noAutofit/>
          </a:bodyPr>
          <a:lstStyle/>
          <a:p>
            <a:pPr marL="514350" indent="-514350">
              <a:buFont typeface="+mj-lt"/>
              <a:buAutoNum type="arabicPeriod"/>
            </a:pPr>
            <a:r>
              <a:rPr lang="en-US" sz="2800" dirty="0"/>
              <a:t>understand the purpose of various components within the codebase. </a:t>
            </a:r>
          </a:p>
          <a:p>
            <a:pPr marL="514350" indent="-514350">
              <a:buFont typeface="+mj-lt"/>
              <a:buAutoNum type="arabicPeriod"/>
            </a:pPr>
            <a:r>
              <a:rPr lang="en-US" sz="2800" dirty="0"/>
              <a:t>identifies dependencies between different components &amp; </a:t>
            </a:r>
          </a:p>
          <a:p>
            <a:pPr marL="514350" indent="-514350">
              <a:buFont typeface="+mj-lt"/>
              <a:buAutoNum type="arabicPeriod"/>
            </a:pPr>
            <a:r>
              <a:rPr lang="en-US" sz="2800" dirty="0"/>
              <a:t>the impact of changes on the overall system (version &amp; MVP)</a:t>
            </a:r>
          </a:p>
          <a:p>
            <a:pPr marL="514350" indent="-514350">
              <a:buFont typeface="+mj-lt"/>
              <a:buAutoNum type="arabicPeriod"/>
            </a:pPr>
            <a:r>
              <a:rPr lang="en-US" sz="2800" dirty="0"/>
              <a:t>guidance on structure, conventions, and best practices</a:t>
            </a:r>
          </a:p>
          <a:p>
            <a:pPr marL="514350" indent="-514350">
              <a:buFont typeface="+mj-lt"/>
              <a:buAutoNum type="arabicPeriod"/>
            </a:pPr>
            <a:r>
              <a:rPr lang="en-US" sz="2800" dirty="0"/>
              <a:t>API parameters, return values, exceptions including usage examples for modules, classes &amp; methods</a:t>
            </a:r>
          </a:p>
          <a:p>
            <a:pPr marL="514350" indent="-514350">
              <a:buFont typeface="+mj-lt"/>
              <a:buAutoNum type="arabicPeriod"/>
            </a:pPr>
            <a:r>
              <a:rPr lang="en-US" sz="2800" dirty="0"/>
              <a:t>test cases designed on documented specifications</a:t>
            </a:r>
            <a:br>
              <a:rPr lang="en-US" sz="2800" dirty="0"/>
            </a:br>
            <a:endParaRPr lang="en-US" sz="2800" dirty="0"/>
          </a:p>
        </p:txBody>
      </p:sp>
    </p:spTree>
    <p:extLst>
      <p:ext uri="{BB962C8B-B14F-4D97-AF65-F5344CB8AC3E}">
        <p14:creationId xmlns:p14="http://schemas.microsoft.com/office/powerpoint/2010/main" val="427689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851A8-B707-441D-F89E-B792B77141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87202-DF7B-A39C-8420-8A32980F021E}"/>
              </a:ext>
            </a:extLst>
          </p:cNvPr>
          <p:cNvSpPr>
            <a:spLocks noGrp="1"/>
          </p:cNvSpPr>
          <p:nvPr>
            <p:ph type="title"/>
          </p:nvPr>
        </p:nvSpPr>
        <p:spPr/>
        <p:txBody>
          <a:bodyPr>
            <a:normAutofit fontScale="90000"/>
          </a:bodyPr>
          <a:lstStyle/>
          <a:p>
            <a:r>
              <a:rPr lang="en-US" dirty="0"/>
              <a:t>Documentation – External </a:t>
            </a:r>
            <a:br>
              <a:rPr lang="en-US" dirty="0"/>
            </a:br>
            <a:r>
              <a:rPr lang="en-US" sz="3100" i="1" dirty="0">
                <a:solidFill>
                  <a:schemeClr val="bg1">
                    <a:lumMod val="65000"/>
                  </a:schemeClr>
                </a:solidFill>
              </a:rPr>
              <a:t>Lecturer will provide this…</a:t>
            </a:r>
          </a:p>
        </p:txBody>
      </p:sp>
      <p:sp>
        <p:nvSpPr>
          <p:cNvPr id="3" name="Content Placeholder 2">
            <a:extLst>
              <a:ext uri="{FF2B5EF4-FFF2-40B4-BE49-F238E27FC236}">
                <a16:creationId xmlns:a16="http://schemas.microsoft.com/office/drawing/2014/main" id="{53632FDE-D778-6BC5-1689-CEE4C6AB9DE5}"/>
              </a:ext>
            </a:extLst>
          </p:cNvPr>
          <p:cNvSpPr>
            <a:spLocks noGrp="1"/>
          </p:cNvSpPr>
          <p:nvPr>
            <p:ph idx="1"/>
          </p:nvPr>
        </p:nvSpPr>
        <p:spPr>
          <a:xfrm>
            <a:off x="830512" y="1820398"/>
            <a:ext cx="10972799" cy="4179349"/>
          </a:xfrm>
        </p:spPr>
        <p:txBody>
          <a:bodyPr>
            <a:noAutofit/>
          </a:bodyPr>
          <a:lstStyle/>
          <a:p>
            <a:pPr marL="514350" indent="-514350">
              <a:buFont typeface="+mj-lt"/>
              <a:buAutoNum type="arabicPeriod"/>
            </a:pPr>
            <a:r>
              <a:rPr lang="en-US" sz="2800" dirty="0"/>
              <a:t>guide on how to install, configure, and use the application. </a:t>
            </a:r>
          </a:p>
          <a:p>
            <a:pPr marL="514350" indent="-514350">
              <a:buFont typeface="+mj-lt"/>
              <a:buAutoNum type="arabicPeriod"/>
            </a:pPr>
            <a:r>
              <a:rPr lang="en-US" sz="2800" dirty="0"/>
              <a:t>external consumption of functions, classes, return value and examples</a:t>
            </a:r>
          </a:p>
          <a:p>
            <a:pPr marL="514350" indent="-514350">
              <a:buFont typeface="+mj-lt"/>
              <a:buAutoNum type="arabicPeriod"/>
            </a:pPr>
            <a:r>
              <a:rPr lang="en-US" sz="2800" dirty="0"/>
              <a:t>included tutorials and examples </a:t>
            </a:r>
          </a:p>
          <a:p>
            <a:pPr marL="514350" indent="-514350">
              <a:buFont typeface="+mj-lt"/>
              <a:buAutoNum type="arabicPeriod"/>
            </a:pPr>
            <a:r>
              <a:rPr lang="en-US" sz="2800" dirty="0"/>
              <a:t>release notes with new features, enhancements, bug fixes, and known issues. </a:t>
            </a:r>
          </a:p>
          <a:p>
            <a:pPr marL="514350" indent="-514350">
              <a:buFont typeface="+mj-lt"/>
              <a:buAutoNum type="arabicPeriod"/>
            </a:pPr>
            <a:r>
              <a:rPr lang="en-US" sz="2800" dirty="0"/>
              <a:t>guidelines and instructions covering coding standards, version control &amp; code review processes (how to submit pull requests)</a:t>
            </a:r>
            <a:br>
              <a:rPr lang="en-US" sz="2800" dirty="0"/>
            </a:br>
            <a:endParaRPr lang="en-US" sz="2800" dirty="0"/>
          </a:p>
        </p:txBody>
      </p:sp>
    </p:spTree>
    <p:extLst>
      <p:ext uri="{BB962C8B-B14F-4D97-AF65-F5344CB8AC3E}">
        <p14:creationId xmlns:p14="http://schemas.microsoft.com/office/powerpoint/2010/main" val="1306449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62809-4FA0-BD74-59A8-BA244DA0ED9A}"/>
              </a:ext>
            </a:extLst>
          </p:cNvPr>
          <p:cNvSpPr>
            <a:spLocks noGrp="1"/>
          </p:cNvSpPr>
          <p:nvPr>
            <p:ph type="title"/>
          </p:nvPr>
        </p:nvSpPr>
        <p:spPr>
          <a:xfrm>
            <a:off x="609600" y="499892"/>
            <a:ext cx="10972800" cy="1003205"/>
          </a:xfrm>
        </p:spPr>
        <p:txBody>
          <a:bodyPr anchor="ctr">
            <a:normAutofit/>
          </a:bodyPr>
          <a:lstStyle/>
          <a:p>
            <a:r>
              <a:rPr lang="en-US" dirty="0"/>
              <a:t>Sphinx??</a:t>
            </a:r>
          </a:p>
        </p:txBody>
      </p:sp>
      <p:pic>
        <p:nvPicPr>
          <p:cNvPr id="4098" name="!!sphinx" descr="Everything You NEED to Know About Visiting the Pyramids &amp; Sphinx –  EgyptTravelBlog.com">
            <a:extLst>
              <a:ext uri="{FF2B5EF4-FFF2-40B4-BE49-F238E27FC236}">
                <a16:creationId xmlns:a16="http://schemas.microsoft.com/office/drawing/2014/main" id="{7FCBE6CA-8A5D-FCBB-EA9D-EA5E371CF2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233" b="19354"/>
          <a:stretch/>
        </p:blipFill>
        <p:spPr bwMode="auto">
          <a:xfrm>
            <a:off x="609600" y="1794617"/>
            <a:ext cx="10972800" cy="4563491"/>
          </a:xfrm>
          <a:prstGeom prst="rect">
            <a:avLst/>
          </a:prstGeom>
          <a:solidFill>
            <a:srgbClr val="FFFFFF"/>
          </a:solidFill>
        </p:spPr>
      </p:pic>
    </p:spTree>
    <p:extLst>
      <p:ext uri="{BB962C8B-B14F-4D97-AF65-F5344CB8AC3E}">
        <p14:creationId xmlns:p14="http://schemas.microsoft.com/office/powerpoint/2010/main" val="31104825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phinx" descr="Welcome — Sphinx documentation">
            <a:extLst>
              <a:ext uri="{FF2B5EF4-FFF2-40B4-BE49-F238E27FC236}">
                <a16:creationId xmlns:a16="http://schemas.microsoft.com/office/drawing/2014/main" id="{10A26938-A5E0-1FC2-E54C-FCD887C4D6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910" y="2821505"/>
            <a:ext cx="6317943" cy="1214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6106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53DD47-4A20-472C-87D1-943887C82D2E}"/>
              </a:ext>
            </a:extLst>
          </p:cNvPr>
          <p:cNvSpPr txBox="1"/>
          <p:nvPr/>
        </p:nvSpPr>
        <p:spPr>
          <a:xfrm>
            <a:off x="3049772" y="837130"/>
            <a:ext cx="6092456" cy="5447645"/>
          </a:xfrm>
          <a:prstGeom prst="rect">
            <a:avLst/>
          </a:prstGeom>
          <a:noFill/>
        </p:spPr>
        <p:txBody>
          <a:bodyPr wrap="square">
            <a:spAutoFit/>
          </a:bodyPr>
          <a:lstStyle/>
          <a:p>
            <a:r>
              <a:rPr lang="en-AU" sz="1200" b="0" dirty="0">
                <a:solidFill>
                  <a:srgbClr val="9CDCFE"/>
                </a:solidFill>
                <a:effectLst/>
                <a:latin typeface="Consolas" panose="020B0609020204030204" pitchFamily="49" charset="0"/>
              </a:rPr>
              <a:t>project</a:t>
            </a:r>
            <a:r>
              <a:rPr lang="en-AU" sz="1200" b="0" dirty="0">
                <a:solidFill>
                  <a:srgbClr val="CCCCCC"/>
                </a:solidFill>
                <a:effectLst/>
                <a:latin typeface="Consolas" panose="020B0609020204030204" pitchFamily="49" charset="0"/>
              </a:rPr>
              <a:t> </a:t>
            </a:r>
            <a:r>
              <a:rPr lang="en-AU" sz="1200" b="0" dirty="0">
                <a:solidFill>
                  <a:srgbClr val="D4D4D4"/>
                </a:solidFill>
                <a:effectLst/>
                <a:latin typeface="Consolas" panose="020B0609020204030204" pitchFamily="49" charset="0"/>
              </a:rPr>
              <a:t>=</a:t>
            </a:r>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'Demo Doc'</a:t>
            </a:r>
            <a:endParaRPr lang="en-AU" sz="1200" b="0" dirty="0">
              <a:solidFill>
                <a:srgbClr val="CCCCCC"/>
              </a:solidFill>
              <a:effectLst/>
              <a:latin typeface="Consolas" panose="020B0609020204030204" pitchFamily="49" charset="0"/>
            </a:endParaRPr>
          </a:p>
          <a:p>
            <a:r>
              <a:rPr lang="en-AU" sz="1200" b="0" dirty="0">
                <a:solidFill>
                  <a:srgbClr val="9CDCFE"/>
                </a:solidFill>
                <a:effectLst/>
                <a:latin typeface="Consolas" panose="020B0609020204030204" pitchFamily="49" charset="0"/>
              </a:rPr>
              <a:t>copyright</a:t>
            </a:r>
            <a:r>
              <a:rPr lang="en-AU" sz="1200" b="0" dirty="0">
                <a:solidFill>
                  <a:srgbClr val="CCCCCC"/>
                </a:solidFill>
                <a:effectLst/>
                <a:latin typeface="Consolas" panose="020B0609020204030204" pitchFamily="49" charset="0"/>
              </a:rPr>
              <a:t> </a:t>
            </a:r>
            <a:r>
              <a:rPr lang="en-AU" sz="1200" b="0" dirty="0">
                <a:solidFill>
                  <a:srgbClr val="D4D4D4"/>
                </a:solidFill>
                <a:effectLst/>
                <a:latin typeface="Consolas" panose="020B0609020204030204" pitchFamily="49" charset="0"/>
              </a:rPr>
              <a:t>=</a:t>
            </a:r>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'2023, Raf'</a:t>
            </a:r>
            <a:endParaRPr lang="en-AU" sz="1200" b="0" dirty="0">
              <a:solidFill>
                <a:srgbClr val="CCCCCC"/>
              </a:solidFill>
              <a:effectLst/>
              <a:latin typeface="Consolas" panose="020B0609020204030204" pitchFamily="49" charset="0"/>
            </a:endParaRPr>
          </a:p>
          <a:p>
            <a:r>
              <a:rPr lang="en-AU" sz="1200" b="0" dirty="0">
                <a:solidFill>
                  <a:srgbClr val="9CDCFE"/>
                </a:solidFill>
                <a:effectLst/>
                <a:latin typeface="Consolas" panose="020B0609020204030204" pitchFamily="49" charset="0"/>
              </a:rPr>
              <a:t>author</a:t>
            </a:r>
            <a:r>
              <a:rPr lang="en-AU" sz="1200" b="0" dirty="0">
                <a:solidFill>
                  <a:srgbClr val="CCCCCC"/>
                </a:solidFill>
                <a:effectLst/>
                <a:latin typeface="Consolas" panose="020B0609020204030204" pitchFamily="49" charset="0"/>
              </a:rPr>
              <a:t> </a:t>
            </a:r>
            <a:r>
              <a:rPr lang="en-AU" sz="1200" b="0" dirty="0">
                <a:solidFill>
                  <a:srgbClr val="D4D4D4"/>
                </a:solidFill>
                <a:effectLst/>
                <a:latin typeface="Consolas" panose="020B0609020204030204" pitchFamily="49" charset="0"/>
              </a:rPr>
              <a:t>=</a:t>
            </a:r>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'Raf'</a:t>
            </a:r>
            <a:endParaRPr lang="en-AU" sz="1200" b="0" dirty="0">
              <a:solidFill>
                <a:srgbClr val="CCCCCC"/>
              </a:solidFill>
              <a:effectLst/>
              <a:latin typeface="Consolas" panose="020B0609020204030204" pitchFamily="49" charset="0"/>
            </a:endParaRPr>
          </a:p>
          <a:p>
            <a:r>
              <a:rPr lang="en-AU" sz="1200" b="0" dirty="0">
                <a:solidFill>
                  <a:srgbClr val="9CDCFE"/>
                </a:solidFill>
                <a:effectLst/>
                <a:latin typeface="Consolas" panose="020B0609020204030204" pitchFamily="49" charset="0"/>
              </a:rPr>
              <a:t>release</a:t>
            </a:r>
            <a:r>
              <a:rPr lang="en-AU" sz="1200" b="0" dirty="0">
                <a:solidFill>
                  <a:srgbClr val="CCCCCC"/>
                </a:solidFill>
                <a:effectLst/>
                <a:latin typeface="Consolas" panose="020B0609020204030204" pitchFamily="49" charset="0"/>
              </a:rPr>
              <a:t> </a:t>
            </a:r>
            <a:r>
              <a:rPr lang="en-AU" sz="1200" b="0" dirty="0">
                <a:solidFill>
                  <a:srgbClr val="D4D4D4"/>
                </a:solidFill>
                <a:effectLst/>
                <a:latin typeface="Consolas" panose="020B0609020204030204" pitchFamily="49" charset="0"/>
              </a:rPr>
              <a:t>=</a:t>
            </a:r>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'0.0.1'</a:t>
            </a:r>
            <a:endParaRPr lang="en-AU" sz="1200" b="0" dirty="0">
              <a:solidFill>
                <a:srgbClr val="CCCCCC"/>
              </a:solidFill>
              <a:effectLst/>
              <a:latin typeface="Consolas" panose="020B0609020204030204" pitchFamily="49" charset="0"/>
            </a:endParaRPr>
          </a:p>
          <a:p>
            <a:br>
              <a:rPr lang="en-AU" sz="1200" b="0" dirty="0">
                <a:solidFill>
                  <a:srgbClr val="CCCCCC"/>
                </a:solidFill>
                <a:effectLst/>
                <a:latin typeface="Consolas" panose="020B0609020204030204" pitchFamily="49" charset="0"/>
              </a:rPr>
            </a:br>
            <a:r>
              <a:rPr lang="en-AU" sz="1200" b="0" dirty="0">
                <a:solidFill>
                  <a:srgbClr val="6A9955"/>
                </a:solidFill>
                <a:effectLst/>
                <a:latin typeface="Consolas" panose="020B0609020204030204" pitchFamily="49" charset="0"/>
              </a:rPr>
              <a:t># -- General configuration ---------------------------------------------------</a:t>
            </a:r>
            <a:endParaRPr lang="en-AU" sz="1200" b="0" dirty="0">
              <a:solidFill>
                <a:srgbClr val="CCCCCC"/>
              </a:solidFill>
              <a:effectLst/>
              <a:latin typeface="Consolas" panose="020B0609020204030204" pitchFamily="49" charset="0"/>
            </a:endParaRPr>
          </a:p>
          <a:p>
            <a:r>
              <a:rPr lang="en-AU" sz="1200" b="0" dirty="0">
                <a:solidFill>
                  <a:srgbClr val="6A9955"/>
                </a:solidFill>
                <a:effectLst/>
                <a:latin typeface="Consolas" panose="020B0609020204030204" pitchFamily="49" charset="0"/>
              </a:rPr>
              <a:t># https://www.sphinx-doc.org/en/master/usage/configuration.html#general-configuration</a:t>
            </a:r>
            <a:endParaRPr lang="en-AU" sz="1200" b="0" dirty="0">
              <a:solidFill>
                <a:srgbClr val="CCCCCC"/>
              </a:solidFill>
              <a:effectLst/>
              <a:latin typeface="Consolas" panose="020B0609020204030204" pitchFamily="49" charset="0"/>
            </a:endParaRPr>
          </a:p>
          <a:p>
            <a:br>
              <a:rPr lang="en-AU" sz="1200" b="0" dirty="0">
                <a:solidFill>
                  <a:srgbClr val="CCCCCC"/>
                </a:solidFill>
                <a:effectLst/>
                <a:latin typeface="Consolas" panose="020B0609020204030204" pitchFamily="49" charset="0"/>
              </a:rPr>
            </a:br>
            <a:r>
              <a:rPr lang="en-AU" sz="1200" b="0" dirty="0">
                <a:solidFill>
                  <a:srgbClr val="9CDCFE"/>
                </a:solidFill>
                <a:effectLst/>
                <a:latin typeface="Consolas" panose="020B0609020204030204" pitchFamily="49" charset="0"/>
              </a:rPr>
              <a:t>extensions</a:t>
            </a:r>
            <a:r>
              <a:rPr lang="en-AU" sz="1200" b="0" dirty="0">
                <a:solidFill>
                  <a:srgbClr val="CCCCCC"/>
                </a:solidFill>
                <a:effectLst/>
                <a:latin typeface="Consolas" panose="020B0609020204030204" pitchFamily="49" charset="0"/>
              </a:rPr>
              <a:t> </a:t>
            </a:r>
            <a:r>
              <a:rPr lang="en-AU" sz="1200" b="0" dirty="0">
                <a:solidFill>
                  <a:srgbClr val="D4D4D4"/>
                </a:solidFill>
                <a:effectLst/>
                <a:latin typeface="Consolas" panose="020B0609020204030204" pitchFamily="49" charset="0"/>
              </a:rPr>
              <a:t>=</a:t>
            </a:r>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a:t>
            </a:r>
            <a:r>
              <a:rPr lang="en-AU" sz="1200" b="0" dirty="0" err="1">
                <a:solidFill>
                  <a:srgbClr val="CE9178"/>
                </a:solidFill>
                <a:effectLst/>
                <a:latin typeface="Consolas" panose="020B0609020204030204" pitchFamily="49" charset="0"/>
              </a:rPr>
              <a:t>sphinx.ext.autodoc</a:t>
            </a:r>
            <a:r>
              <a:rPr lang="en-AU" sz="1200" b="0" dirty="0">
                <a:solidFill>
                  <a:srgbClr val="CE9178"/>
                </a:solidFill>
                <a:effectLst/>
                <a:latin typeface="Consolas" panose="020B0609020204030204" pitchFamily="49" charset="0"/>
              </a:rPr>
              <a:t>'</a:t>
            </a:r>
            <a:r>
              <a:rPr lang="en-AU" sz="1200" b="0" dirty="0">
                <a:solidFill>
                  <a:srgbClr val="CCCCCC"/>
                </a:solidFill>
                <a:effectLst/>
                <a:latin typeface="Consolas" panose="020B0609020204030204" pitchFamily="49" charset="0"/>
              </a:rPr>
              <a:t>,</a:t>
            </a:r>
          </a:p>
          <a:p>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a:t>
            </a:r>
            <a:r>
              <a:rPr lang="en-AU" sz="1200" b="0" dirty="0" err="1">
                <a:solidFill>
                  <a:srgbClr val="CE9178"/>
                </a:solidFill>
                <a:effectLst/>
                <a:latin typeface="Consolas" panose="020B0609020204030204" pitchFamily="49" charset="0"/>
              </a:rPr>
              <a:t>sphinx.ext.napoleon</a:t>
            </a:r>
            <a:r>
              <a:rPr lang="en-AU" sz="1200" b="0" dirty="0">
                <a:solidFill>
                  <a:srgbClr val="CE9178"/>
                </a:solidFill>
                <a:effectLst/>
                <a:latin typeface="Consolas" panose="020B0609020204030204" pitchFamily="49" charset="0"/>
              </a:rPr>
              <a:t>'</a:t>
            </a:r>
            <a:r>
              <a:rPr lang="en-AU" sz="1200" b="0" dirty="0">
                <a:solidFill>
                  <a:srgbClr val="CCCCCC"/>
                </a:solidFill>
                <a:effectLst/>
                <a:latin typeface="Consolas" panose="020B0609020204030204" pitchFamily="49" charset="0"/>
              </a:rPr>
              <a:t>]</a:t>
            </a:r>
          </a:p>
          <a:p>
            <a:br>
              <a:rPr lang="en-AU" sz="1200" b="0" dirty="0">
                <a:solidFill>
                  <a:srgbClr val="CCCCCC"/>
                </a:solidFill>
                <a:effectLst/>
                <a:latin typeface="Consolas" panose="020B0609020204030204" pitchFamily="49" charset="0"/>
              </a:rPr>
            </a:br>
            <a:r>
              <a:rPr lang="en-AU" sz="1200" b="0" dirty="0" err="1">
                <a:solidFill>
                  <a:srgbClr val="9CDCFE"/>
                </a:solidFill>
                <a:effectLst/>
                <a:latin typeface="Consolas" panose="020B0609020204030204" pitchFamily="49" charset="0"/>
              </a:rPr>
              <a:t>templates_path</a:t>
            </a:r>
            <a:r>
              <a:rPr lang="en-AU" sz="1200" b="0" dirty="0">
                <a:solidFill>
                  <a:srgbClr val="CCCCCC"/>
                </a:solidFill>
                <a:effectLst/>
                <a:latin typeface="Consolas" panose="020B0609020204030204" pitchFamily="49" charset="0"/>
              </a:rPr>
              <a:t> </a:t>
            </a:r>
            <a:r>
              <a:rPr lang="en-AU" sz="1200" b="0" dirty="0">
                <a:solidFill>
                  <a:srgbClr val="D4D4D4"/>
                </a:solidFill>
                <a:effectLst/>
                <a:latin typeface="Consolas" panose="020B0609020204030204" pitchFamily="49" charset="0"/>
              </a:rPr>
              <a:t>=</a:t>
            </a:r>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'_templates'</a:t>
            </a:r>
            <a:r>
              <a:rPr lang="en-AU" sz="1200" b="0" dirty="0">
                <a:solidFill>
                  <a:srgbClr val="CCCCCC"/>
                </a:solidFill>
                <a:effectLst/>
                <a:latin typeface="Consolas" panose="020B0609020204030204" pitchFamily="49" charset="0"/>
              </a:rPr>
              <a:t>]</a:t>
            </a:r>
          </a:p>
          <a:p>
            <a:r>
              <a:rPr lang="en-AU" sz="1200" b="0" dirty="0" err="1">
                <a:solidFill>
                  <a:srgbClr val="9CDCFE"/>
                </a:solidFill>
                <a:effectLst/>
                <a:latin typeface="Consolas" panose="020B0609020204030204" pitchFamily="49" charset="0"/>
              </a:rPr>
              <a:t>exclude_patterns</a:t>
            </a:r>
            <a:r>
              <a:rPr lang="en-AU" sz="1200" b="0" dirty="0">
                <a:solidFill>
                  <a:srgbClr val="CCCCCC"/>
                </a:solidFill>
                <a:effectLst/>
                <a:latin typeface="Consolas" panose="020B0609020204030204" pitchFamily="49" charset="0"/>
              </a:rPr>
              <a:t> </a:t>
            </a:r>
            <a:r>
              <a:rPr lang="en-AU" sz="1200" b="0" dirty="0">
                <a:solidFill>
                  <a:srgbClr val="D4D4D4"/>
                </a:solidFill>
                <a:effectLst/>
                <a:latin typeface="Consolas" panose="020B0609020204030204" pitchFamily="49" charset="0"/>
              </a:rPr>
              <a:t>=</a:t>
            </a:r>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'_build'</a:t>
            </a:r>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a:t>
            </a:r>
            <a:r>
              <a:rPr lang="en-AU" sz="1200" b="0" dirty="0" err="1">
                <a:solidFill>
                  <a:srgbClr val="CE9178"/>
                </a:solidFill>
                <a:effectLst/>
                <a:latin typeface="Consolas" panose="020B0609020204030204" pitchFamily="49" charset="0"/>
              </a:rPr>
              <a:t>Thumbs.db</a:t>
            </a:r>
            <a:r>
              <a:rPr lang="en-AU" sz="1200" b="0" dirty="0">
                <a:solidFill>
                  <a:srgbClr val="CE9178"/>
                </a:solidFill>
                <a:effectLst/>
                <a:latin typeface="Consolas" panose="020B0609020204030204" pitchFamily="49" charset="0"/>
              </a:rPr>
              <a:t>'</a:t>
            </a:r>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a:t>
            </a:r>
            <a:r>
              <a:rPr lang="en-AU" sz="1200" b="0" dirty="0" err="1">
                <a:solidFill>
                  <a:srgbClr val="CE9178"/>
                </a:solidFill>
                <a:effectLst/>
                <a:latin typeface="Consolas" panose="020B0609020204030204" pitchFamily="49" charset="0"/>
              </a:rPr>
              <a:t>DS_Store</a:t>
            </a:r>
            <a:r>
              <a:rPr lang="en-AU" sz="1200" b="0" dirty="0">
                <a:solidFill>
                  <a:srgbClr val="CE9178"/>
                </a:solidFill>
                <a:effectLst/>
                <a:latin typeface="Consolas" panose="020B0609020204030204" pitchFamily="49" charset="0"/>
              </a:rPr>
              <a:t>'</a:t>
            </a:r>
            <a:r>
              <a:rPr lang="en-AU" sz="1200" b="0" dirty="0">
                <a:solidFill>
                  <a:srgbClr val="CCCCCC"/>
                </a:solidFill>
                <a:effectLst/>
                <a:latin typeface="Consolas" panose="020B0609020204030204" pitchFamily="49" charset="0"/>
              </a:rPr>
              <a:t>]</a:t>
            </a:r>
          </a:p>
          <a:p>
            <a:br>
              <a:rPr lang="en-AU" sz="1200" b="0" dirty="0">
                <a:solidFill>
                  <a:srgbClr val="CCCCCC"/>
                </a:solidFill>
                <a:effectLst/>
                <a:latin typeface="Consolas" panose="020B0609020204030204" pitchFamily="49" charset="0"/>
              </a:rPr>
            </a:br>
            <a:r>
              <a:rPr lang="en-AU" sz="1200" b="0" dirty="0">
                <a:solidFill>
                  <a:srgbClr val="6A9955"/>
                </a:solidFill>
                <a:effectLst/>
                <a:latin typeface="Consolas" panose="020B0609020204030204" pitchFamily="49" charset="0"/>
              </a:rPr>
              <a:t># -- Options for HTML output -------------------------------------------------</a:t>
            </a:r>
            <a:endParaRPr lang="en-AU" sz="1200" b="0" dirty="0">
              <a:solidFill>
                <a:srgbClr val="CCCCCC"/>
              </a:solidFill>
              <a:effectLst/>
              <a:latin typeface="Consolas" panose="020B0609020204030204" pitchFamily="49" charset="0"/>
            </a:endParaRPr>
          </a:p>
          <a:p>
            <a:r>
              <a:rPr lang="en-AU" sz="1200" b="0" dirty="0">
                <a:solidFill>
                  <a:srgbClr val="6A9955"/>
                </a:solidFill>
                <a:effectLst/>
                <a:latin typeface="Consolas" panose="020B0609020204030204" pitchFamily="49" charset="0"/>
              </a:rPr>
              <a:t># https://www.sphinx-doc.org/en/master/usage/configuration.html#options-for-html-output</a:t>
            </a:r>
            <a:endParaRPr lang="en-AU" sz="1200" b="0" dirty="0">
              <a:solidFill>
                <a:srgbClr val="CCCCCC"/>
              </a:solidFill>
              <a:effectLst/>
              <a:latin typeface="Consolas" panose="020B0609020204030204" pitchFamily="49" charset="0"/>
            </a:endParaRPr>
          </a:p>
          <a:p>
            <a:br>
              <a:rPr lang="en-AU" sz="1200" b="0" dirty="0">
                <a:solidFill>
                  <a:srgbClr val="CCCCCC"/>
                </a:solidFill>
                <a:effectLst/>
                <a:latin typeface="Consolas" panose="020B0609020204030204" pitchFamily="49" charset="0"/>
              </a:rPr>
            </a:br>
            <a:r>
              <a:rPr lang="en-AU" sz="1200" b="0" dirty="0" err="1">
                <a:solidFill>
                  <a:srgbClr val="9CDCFE"/>
                </a:solidFill>
                <a:effectLst/>
                <a:latin typeface="Consolas" panose="020B0609020204030204" pitchFamily="49" charset="0"/>
              </a:rPr>
              <a:t>html_theme</a:t>
            </a:r>
            <a:r>
              <a:rPr lang="en-AU" sz="1200" b="0" dirty="0">
                <a:solidFill>
                  <a:srgbClr val="CCCCCC"/>
                </a:solidFill>
                <a:effectLst/>
                <a:latin typeface="Consolas" panose="020B0609020204030204" pitchFamily="49" charset="0"/>
              </a:rPr>
              <a:t> </a:t>
            </a:r>
            <a:r>
              <a:rPr lang="en-AU" sz="1200" b="0" dirty="0">
                <a:solidFill>
                  <a:srgbClr val="D4D4D4"/>
                </a:solidFill>
                <a:effectLst/>
                <a:latin typeface="Consolas" panose="020B0609020204030204" pitchFamily="49" charset="0"/>
              </a:rPr>
              <a:t>=</a:t>
            </a:r>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a:t>
            </a:r>
            <a:r>
              <a:rPr lang="en-AU" sz="1200" b="0" dirty="0" err="1">
                <a:solidFill>
                  <a:srgbClr val="CE9178"/>
                </a:solidFill>
                <a:effectLst/>
                <a:latin typeface="Consolas" panose="020B0609020204030204" pitchFamily="49" charset="0"/>
              </a:rPr>
              <a:t>sphinx_rtd_theme</a:t>
            </a:r>
            <a:r>
              <a:rPr lang="en-AU" sz="1200" b="0" dirty="0">
                <a:solidFill>
                  <a:srgbClr val="CE9178"/>
                </a:solidFill>
                <a:effectLst/>
                <a:latin typeface="Consolas" panose="020B0609020204030204" pitchFamily="49" charset="0"/>
              </a:rPr>
              <a:t>'</a:t>
            </a:r>
            <a:endParaRPr lang="en-AU" sz="1200" b="0" dirty="0">
              <a:solidFill>
                <a:srgbClr val="CCCCCC"/>
              </a:solidFill>
              <a:effectLst/>
              <a:latin typeface="Consolas" panose="020B0609020204030204" pitchFamily="49" charset="0"/>
            </a:endParaRPr>
          </a:p>
          <a:p>
            <a:r>
              <a:rPr lang="en-AU" sz="1200" b="0" dirty="0" err="1">
                <a:solidFill>
                  <a:srgbClr val="9CDCFE"/>
                </a:solidFill>
                <a:effectLst/>
                <a:latin typeface="Consolas" panose="020B0609020204030204" pitchFamily="49" charset="0"/>
              </a:rPr>
              <a:t>html_static_path</a:t>
            </a:r>
            <a:r>
              <a:rPr lang="en-AU" sz="1200" b="0" dirty="0">
                <a:solidFill>
                  <a:srgbClr val="CCCCCC"/>
                </a:solidFill>
                <a:effectLst/>
                <a:latin typeface="Consolas" panose="020B0609020204030204" pitchFamily="49" charset="0"/>
              </a:rPr>
              <a:t> </a:t>
            </a:r>
            <a:r>
              <a:rPr lang="en-AU" sz="1200" b="0" dirty="0">
                <a:solidFill>
                  <a:srgbClr val="D4D4D4"/>
                </a:solidFill>
                <a:effectLst/>
                <a:latin typeface="Consolas" panose="020B0609020204030204" pitchFamily="49" charset="0"/>
              </a:rPr>
              <a:t>=</a:t>
            </a:r>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'_static'</a:t>
            </a:r>
            <a:r>
              <a:rPr lang="en-AU" sz="1200" b="0" dirty="0">
                <a:solidFill>
                  <a:srgbClr val="CCCCCC"/>
                </a:solidFill>
                <a:effectLst/>
                <a:latin typeface="Consolas" panose="020B0609020204030204" pitchFamily="49" charset="0"/>
              </a:rPr>
              <a:t>]</a:t>
            </a:r>
          </a:p>
          <a:p>
            <a:br>
              <a:rPr lang="en-AU" sz="1200" b="0" dirty="0">
                <a:solidFill>
                  <a:srgbClr val="CCCCCC"/>
                </a:solidFill>
                <a:effectLst/>
                <a:latin typeface="Consolas" panose="020B0609020204030204" pitchFamily="49" charset="0"/>
              </a:rPr>
            </a:br>
            <a:r>
              <a:rPr lang="en-AU" sz="1200" b="0" dirty="0">
                <a:solidFill>
                  <a:srgbClr val="6A9955"/>
                </a:solidFill>
                <a:effectLst/>
                <a:latin typeface="Consolas" panose="020B0609020204030204" pitchFamily="49" charset="0"/>
              </a:rPr>
              <a:t># </a:t>
            </a:r>
            <a:r>
              <a:rPr lang="en-AU" sz="1200" b="0" dirty="0" err="1">
                <a:solidFill>
                  <a:srgbClr val="6A9955"/>
                </a:solidFill>
                <a:effectLst/>
                <a:latin typeface="Consolas" panose="020B0609020204030204" pitchFamily="49" charset="0"/>
              </a:rPr>
              <a:t>Autodoc</a:t>
            </a:r>
            <a:r>
              <a:rPr lang="en-AU" sz="1200" b="0" dirty="0">
                <a:solidFill>
                  <a:srgbClr val="6A9955"/>
                </a:solidFill>
                <a:effectLst/>
                <a:latin typeface="Consolas" panose="020B0609020204030204" pitchFamily="49" charset="0"/>
              </a:rPr>
              <a:t> settings</a:t>
            </a:r>
            <a:endParaRPr lang="en-AU" sz="1200" b="0" dirty="0">
              <a:solidFill>
                <a:srgbClr val="CCCCCC"/>
              </a:solidFill>
              <a:effectLst/>
              <a:latin typeface="Consolas" panose="020B0609020204030204" pitchFamily="49" charset="0"/>
            </a:endParaRPr>
          </a:p>
          <a:p>
            <a:r>
              <a:rPr lang="en-AU" sz="1200" b="0" dirty="0" err="1">
                <a:solidFill>
                  <a:srgbClr val="9CDCFE"/>
                </a:solidFill>
                <a:effectLst/>
                <a:latin typeface="Consolas" panose="020B0609020204030204" pitchFamily="49" charset="0"/>
              </a:rPr>
              <a:t>autodoc_typehints</a:t>
            </a:r>
            <a:r>
              <a:rPr lang="en-AU" sz="1200" b="0" dirty="0">
                <a:solidFill>
                  <a:srgbClr val="CCCCCC"/>
                </a:solidFill>
                <a:effectLst/>
                <a:latin typeface="Consolas" panose="020B0609020204030204" pitchFamily="49" charset="0"/>
              </a:rPr>
              <a:t> </a:t>
            </a:r>
            <a:r>
              <a:rPr lang="en-AU" sz="1200" b="0" dirty="0">
                <a:solidFill>
                  <a:srgbClr val="D4D4D4"/>
                </a:solidFill>
                <a:effectLst/>
                <a:latin typeface="Consolas" panose="020B0609020204030204" pitchFamily="49" charset="0"/>
              </a:rPr>
              <a:t>=</a:t>
            </a:r>
            <a:r>
              <a:rPr lang="en-AU" sz="1200" b="0" dirty="0">
                <a:solidFill>
                  <a:srgbClr val="CCCCCC"/>
                </a:solidFill>
                <a:effectLst/>
                <a:latin typeface="Consolas" panose="020B0609020204030204" pitchFamily="49" charset="0"/>
              </a:rPr>
              <a:t> </a:t>
            </a:r>
            <a:r>
              <a:rPr lang="en-AU" sz="1200" b="0" dirty="0">
                <a:solidFill>
                  <a:srgbClr val="CE9178"/>
                </a:solidFill>
                <a:effectLst/>
                <a:latin typeface="Consolas" panose="020B0609020204030204" pitchFamily="49" charset="0"/>
              </a:rPr>
              <a:t>"description"</a:t>
            </a:r>
            <a:endParaRPr lang="en-AU" sz="1200" b="0" dirty="0">
              <a:solidFill>
                <a:srgbClr val="CCCCCC"/>
              </a:solidFill>
              <a:effectLst/>
              <a:latin typeface="Consolas" panose="020B0609020204030204" pitchFamily="49" charset="0"/>
            </a:endParaRPr>
          </a:p>
          <a:p>
            <a:br>
              <a:rPr lang="en-AU" sz="1200" b="0" dirty="0">
                <a:solidFill>
                  <a:srgbClr val="CCCCCC"/>
                </a:solidFill>
                <a:effectLst/>
                <a:latin typeface="Consolas" panose="020B0609020204030204" pitchFamily="49" charset="0"/>
              </a:rPr>
            </a:br>
            <a:r>
              <a:rPr lang="en-AU" sz="1200" b="0" dirty="0">
                <a:solidFill>
                  <a:srgbClr val="6A9955"/>
                </a:solidFill>
                <a:effectLst/>
                <a:latin typeface="Consolas" panose="020B0609020204030204" pitchFamily="49" charset="0"/>
              </a:rPr>
              <a:t># Napoleon settings</a:t>
            </a:r>
            <a:endParaRPr lang="en-AU" sz="1200" b="0" dirty="0">
              <a:solidFill>
                <a:srgbClr val="CCCCCC"/>
              </a:solidFill>
              <a:effectLst/>
              <a:latin typeface="Consolas" panose="020B0609020204030204" pitchFamily="49" charset="0"/>
            </a:endParaRPr>
          </a:p>
          <a:p>
            <a:r>
              <a:rPr lang="en-AU" sz="1200" b="0" dirty="0" err="1">
                <a:solidFill>
                  <a:srgbClr val="9CDCFE"/>
                </a:solidFill>
                <a:effectLst/>
                <a:latin typeface="Consolas" panose="020B0609020204030204" pitchFamily="49" charset="0"/>
              </a:rPr>
              <a:t>napoleon_google_docstring</a:t>
            </a:r>
            <a:r>
              <a:rPr lang="en-AU" sz="1200" b="0" dirty="0">
                <a:solidFill>
                  <a:srgbClr val="CCCCCC"/>
                </a:solidFill>
                <a:effectLst/>
                <a:latin typeface="Consolas" panose="020B0609020204030204" pitchFamily="49" charset="0"/>
              </a:rPr>
              <a:t> </a:t>
            </a:r>
            <a:r>
              <a:rPr lang="en-AU" sz="1200" b="0" dirty="0">
                <a:solidFill>
                  <a:srgbClr val="D4D4D4"/>
                </a:solidFill>
                <a:effectLst/>
                <a:latin typeface="Consolas" panose="020B0609020204030204" pitchFamily="49" charset="0"/>
              </a:rPr>
              <a:t>=</a:t>
            </a:r>
            <a:r>
              <a:rPr lang="en-AU" sz="1200" b="0" dirty="0">
                <a:solidFill>
                  <a:srgbClr val="CCCCCC"/>
                </a:solidFill>
                <a:effectLst/>
                <a:latin typeface="Consolas" panose="020B0609020204030204" pitchFamily="49" charset="0"/>
              </a:rPr>
              <a:t> </a:t>
            </a:r>
            <a:r>
              <a:rPr lang="en-AU" sz="1200" b="0" dirty="0">
                <a:solidFill>
                  <a:srgbClr val="569CD6"/>
                </a:solidFill>
                <a:effectLst/>
                <a:latin typeface="Consolas" panose="020B0609020204030204" pitchFamily="49" charset="0"/>
              </a:rPr>
              <a:t>True</a:t>
            </a:r>
            <a:endParaRPr lang="en-AU" sz="12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2695287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426A60-B382-2733-6487-8B2B06E89212}"/>
              </a:ext>
            </a:extLst>
          </p:cNvPr>
          <p:cNvPicPr>
            <a:picLocks noChangeAspect="1"/>
          </p:cNvPicPr>
          <p:nvPr/>
        </p:nvPicPr>
        <p:blipFill>
          <a:blip r:embed="rId3"/>
          <a:srcRect b="27939"/>
          <a:stretch>
            <a:fillRect/>
          </a:stretch>
        </p:blipFill>
        <p:spPr>
          <a:xfrm>
            <a:off x="426514" y="1284542"/>
            <a:ext cx="5669486" cy="4826327"/>
          </a:xfrm>
          <a:prstGeom prst="rect">
            <a:avLst/>
          </a:prstGeom>
        </p:spPr>
      </p:pic>
      <p:pic>
        <p:nvPicPr>
          <p:cNvPr id="4" name="Picture 3">
            <a:extLst>
              <a:ext uri="{FF2B5EF4-FFF2-40B4-BE49-F238E27FC236}">
                <a16:creationId xmlns:a16="http://schemas.microsoft.com/office/drawing/2014/main" id="{BA1D48BB-15B4-BF40-FC48-58C1D860CC8A}"/>
              </a:ext>
            </a:extLst>
          </p:cNvPr>
          <p:cNvPicPr>
            <a:picLocks noChangeAspect="1"/>
          </p:cNvPicPr>
          <p:nvPr/>
        </p:nvPicPr>
        <p:blipFill>
          <a:blip r:embed="rId4"/>
          <a:srcRect b="31196"/>
          <a:stretch>
            <a:fillRect/>
          </a:stretch>
        </p:blipFill>
        <p:spPr>
          <a:xfrm>
            <a:off x="6345400" y="1284541"/>
            <a:ext cx="5669486" cy="4826327"/>
          </a:xfrm>
          <a:prstGeom prst="rect">
            <a:avLst/>
          </a:prstGeom>
        </p:spPr>
      </p:pic>
      <p:sp>
        <p:nvSpPr>
          <p:cNvPr id="5" name="TextBox 4">
            <a:extLst>
              <a:ext uri="{FF2B5EF4-FFF2-40B4-BE49-F238E27FC236}">
                <a16:creationId xmlns:a16="http://schemas.microsoft.com/office/drawing/2014/main" id="{17F96912-8439-7826-EDE9-617130EEEB18}"/>
              </a:ext>
            </a:extLst>
          </p:cNvPr>
          <p:cNvSpPr txBox="1"/>
          <p:nvPr/>
        </p:nvSpPr>
        <p:spPr>
          <a:xfrm rot="19570540">
            <a:off x="2737433" y="3685011"/>
            <a:ext cx="2390398" cy="369332"/>
          </a:xfrm>
          <a:prstGeom prst="rect">
            <a:avLst/>
          </a:prstGeom>
          <a:noFill/>
        </p:spPr>
        <p:txBody>
          <a:bodyPr wrap="none" rtlCol="0">
            <a:spAutoFit/>
          </a:bodyPr>
          <a:lstStyle/>
          <a:p>
            <a:r>
              <a:rPr lang="en-US" b="1" dirty="0">
                <a:solidFill>
                  <a:srgbClr val="C00000"/>
                </a:solidFill>
              </a:rPr>
              <a:t>** markdown (md) **</a:t>
            </a:r>
          </a:p>
        </p:txBody>
      </p:sp>
      <p:sp>
        <p:nvSpPr>
          <p:cNvPr id="6" name="TextBox 5">
            <a:extLst>
              <a:ext uri="{FF2B5EF4-FFF2-40B4-BE49-F238E27FC236}">
                <a16:creationId xmlns:a16="http://schemas.microsoft.com/office/drawing/2014/main" id="{285A4CFE-FB52-CF94-E21C-B19797464D70}"/>
              </a:ext>
            </a:extLst>
          </p:cNvPr>
          <p:cNvSpPr txBox="1"/>
          <p:nvPr/>
        </p:nvSpPr>
        <p:spPr>
          <a:xfrm rot="19402451">
            <a:off x="8332035" y="3513040"/>
            <a:ext cx="3052952" cy="369332"/>
          </a:xfrm>
          <a:prstGeom prst="rect">
            <a:avLst/>
          </a:prstGeom>
          <a:noFill/>
        </p:spPr>
        <p:txBody>
          <a:bodyPr wrap="square" rtlCol="0">
            <a:spAutoFit/>
          </a:bodyPr>
          <a:lstStyle/>
          <a:p>
            <a:r>
              <a:rPr lang="en-US" b="1" dirty="0">
                <a:solidFill>
                  <a:srgbClr val="C00000"/>
                </a:solidFill>
              </a:rPr>
              <a:t>__</a:t>
            </a:r>
            <a:r>
              <a:rPr lang="en-US" b="1" dirty="0" err="1">
                <a:solidFill>
                  <a:srgbClr val="C00000"/>
                </a:solidFill>
              </a:rPr>
              <a:t>reStructuredText</a:t>
            </a:r>
            <a:r>
              <a:rPr lang="en-US" b="1" dirty="0">
                <a:solidFill>
                  <a:srgbClr val="C00000"/>
                </a:solidFill>
              </a:rPr>
              <a:t> (</a:t>
            </a:r>
            <a:r>
              <a:rPr lang="en-US" b="1" dirty="0" err="1">
                <a:solidFill>
                  <a:srgbClr val="C00000"/>
                </a:solidFill>
              </a:rPr>
              <a:t>rst</a:t>
            </a:r>
            <a:r>
              <a:rPr lang="en-US" b="1" dirty="0">
                <a:solidFill>
                  <a:srgbClr val="C00000"/>
                </a:solidFill>
              </a:rPr>
              <a:t>)__</a:t>
            </a:r>
          </a:p>
        </p:txBody>
      </p:sp>
    </p:spTree>
    <p:extLst>
      <p:ext uri="{BB962C8B-B14F-4D97-AF65-F5344CB8AC3E}">
        <p14:creationId xmlns:p14="http://schemas.microsoft.com/office/powerpoint/2010/main" val="16192031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0CAB3D-DA3E-4828-9C9E-F40595AE411D}"/>
              </a:ext>
            </a:extLst>
          </p:cNvPr>
          <p:cNvSpPr txBox="1">
            <a:spLocks/>
          </p:cNvSpPr>
          <p:nvPr/>
        </p:nvSpPr>
        <p:spPr>
          <a:xfrm>
            <a:off x="4652433" y="2862092"/>
            <a:ext cx="2887133" cy="1003205"/>
          </a:xfrm>
          <a:prstGeom prst="rect">
            <a:avLst/>
          </a:prstGeom>
        </p:spPr>
        <p:txBody>
          <a:bodyPr anchor="ctr">
            <a:normAutofit/>
          </a:bodyPr>
          <a:lst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a:lstStyle>
          <a:p>
            <a:r>
              <a:rPr lang="en-US" dirty="0"/>
              <a:t>Activity 2</a:t>
            </a:r>
          </a:p>
        </p:txBody>
      </p:sp>
    </p:spTree>
    <p:extLst>
      <p:ext uri="{BB962C8B-B14F-4D97-AF65-F5344CB8AC3E}">
        <p14:creationId xmlns:p14="http://schemas.microsoft.com/office/powerpoint/2010/main" val="29764131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F0CAB3D-DA3E-4828-9C9E-F40595AE411D}"/>
              </a:ext>
            </a:extLst>
          </p:cNvPr>
          <p:cNvSpPr txBox="1">
            <a:spLocks/>
          </p:cNvSpPr>
          <p:nvPr/>
        </p:nvSpPr>
        <p:spPr>
          <a:xfrm>
            <a:off x="4652433" y="2862092"/>
            <a:ext cx="2887133" cy="1003205"/>
          </a:xfrm>
          <a:prstGeom prst="rect">
            <a:avLst/>
          </a:prstGeom>
        </p:spPr>
        <p:txBody>
          <a:bodyPr anchor="ctr">
            <a:normAutofit/>
          </a:bodyPr>
          <a:lst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a:lstStyle>
          <a:p>
            <a:r>
              <a:rPr lang="en-US" dirty="0"/>
              <a:t>Activity 3</a:t>
            </a:r>
          </a:p>
        </p:txBody>
      </p:sp>
    </p:spTree>
    <p:extLst>
      <p:ext uri="{BB962C8B-B14F-4D97-AF65-F5344CB8AC3E}">
        <p14:creationId xmlns:p14="http://schemas.microsoft.com/office/powerpoint/2010/main" val="6890646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7.01.potx" id="{3EDD48A2-5C86-4826-A34B-3DD4694D6775}" vid="{2EDC81D3-35B6-4E09-B25C-3248DC8F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FolderType xmlns="833ce3ab-d172-455c-9989-f10facae9784" xsi:nil="true"/>
    <Students xmlns="833ce3ab-d172-455c-9989-f10facae9784">
      <UserInfo>
        <DisplayName/>
        <AccountId xsi:nil="true"/>
        <AccountType/>
      </UserInfo>
    </Students>
    <TeamsChannelId xmlns="833ce3ab-d172-455c-9989-f10facae9784" xsi:nil="true"/>
    <Student_Groups xmlns="833ce3ab-d172-455c-9989-f10facae9784">
      <UserInfo>
        <DisplayName/>
        <AccountId xsi:nil="true"/>
        <AccountType/>
      </UserInfo>
    </Student_Groups>
    <Math_Settings xmlns="833ce3ab-d172-455c-9989-f10facae9784" xsi:nil="true"/>
    <Is_Collaboration_Space_Locked xmlns="833ce3ab-d172-455c-9989-f10facae9784" xsi:nil="true"/>
    <AppVersion xmlns="833ce3ab-d172-455c-9989-f10facae9784" xsi:nil="true"/>
    <Owner xmlns="833ce3ab-d172-455c-9989-f10facae9784">
      <UserInfo>
        <DisplayName/>
        <AccountId xsi:nil="true"/>
        <AccountType/>
      </UserInfo>
    </Owner>
    <Has_Teacher_Only_SectionGroup xmlns="833ce3ab-d172-455c-9989-f10facae9784" xsi:nil="true"/>
    <NotebookType xmlns="833ce3ab-d172-455c-9989-f10facae9784" xsi:nil="true"/>
    <Teachers xmlns="833ce3ab-d172-455c-9989-f10facae9784">
      <UserInfo>
        <DisplayName/>
        <AccountId xsi:nil="true"/>
        <AccountType/>
      </UserInfo>
    </Teachers>
    <Templates xmlns="833ce3ab-d172-455c-9989-f10facae9784" xsi:nil="true"/>
    <DefaultSectionNames xmlns="833ce3ab-d172-455c-9989-f10facae9784" xsi:nil="true"/>
    <CultureName xmlns="833ce3ab-d172-455c-9989-f10facae9784" xsi:nil="true"/>
    <Distribution_Groups xmlns="833ce3ab-d172-455c-9989-f10facae9784" xsi:nil="true"/>
    <Self_Registration_Enabled xmlns="833ce3ab-d172-455c-9989-f10facae9784" xsi:nil="true"/>
    <LMS_Mappings xmlns="833ce3ab-d172-455c-9989-f10facae9784" xsi:nil="true"/>
    <Invited_Teachers xmlns="833ce3ab-d172-455c-9989-f10facae9784" xsi:nil="true"/>
    <Invited_Students xmlns="833ce3ab-d172-455c-9989-f10facae9784" xsi:nil="true"/>
    <IsNotebookLocked xmlns="833ce3ab-d172-455c-9989-f10facae978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482CBA738D00D4AAC9330883AE1DA78" ma:contentTypeVersion="33" ma:contentTypeDescription="Create a new document." ma:contentTypeScope="" ma:versionID="8e47dcab4e34a32242880baf61f0a73d">
  <xsd:schema xmlns:xsd="http://www.w3.org/2001/XMLSchema" xmlns:xs="http://www.w3.org/2001/XMLSchema" xmlns:p="http://schemas.microsoft.com/office/2006/metadata/properties" xmlns:ns3="3936cbe9-feea-4685-b03c-7f8d09c550f1" xmlns:ns4="833ce3ab-d172-455c-9989-f10facae9784" targetNamespace="http://schemas.microsoft.com/office/2006/metadata/properties" ma:root="true" ma:fieldsID="174389be43a91ce68753c33b6ac99b4e" ns3:_="" ns4:_="">
    <xsd:import namespace="3936cbe9-feea-4685-b03c-7f8d09c550f1"/>
    <xsd:import namespace="833ce3ab-d172-455c-9989-f10facae9784"/>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DateTaken" minOccurs="0"/>
                <xsd:element ref="ns4:MediaServiceOCR" minOccurs="0"/>
                <xsd:element ref="ns4:MediaServiceLocation" minOccurs="0"/>
                <xsd:element ref="ns4:MediaServiceEventHashCode" minOccurs="0"/>
                <xsd:element ref="ns4:MediaServiceGenerationTime" minOccurs="0"/>
                <xsd:element ref="ns4:MediaServiceAutoKeyPoints" minOccurs="0"/>
                <xsd:element ref="ns4:MediaServiceKeyPoints" minOccurs="0"/>
                <xsd:element ref="ns4:NotebookType" minOccurs="0"/>
                <xsd:element ref="ns4:FolderType" minOccurs="0"/>
                <xsd:element ref="ns4:CultureName" minOccurs="0"/>
                <xsd:element ref="ns4:AppVersion" minOccurs="0"/>
                <xsd:element ref="ns4:TeamsChannelId" minOccurs="0"/>
                <xsd:element ref="ns4:Owner" minOccurs="0"/>
                <xsd:element ref="ns4:Math_Settings" minOccurs="0"/>
                <xsd:element ref="ns4:DefaultSectionNames" minOccurs="0"/>
                <xsd:element ref="ns4:Templates" minOccurs="0"/>
                <xsd:element ref="ns4:Teachers" minOccurs="0"/>
                <xsd:element ref="ns4:Students" minOccurs="0"/>
                <xsd:element ref="ns4:Student_Groups" minOccurs="0"/>
                <xsd:element ref="ns4:Distribution_Groups" minOccurs="0"/>
                <xsd:element ref="ns4:LMS_Mappings" minOccurs="0"/>
                <xsd:element ref="ns4:Invited_Teachers" minOccurs="0"/>
                <xsd:element ref="ns4:Invited_Students" minOccurs="0"/>
                <xsd:element ref="ns4:Self_Registration_Enabled" minOccurs="0"/>
                <xsd:element ref="ns4:Has_Teacher_Only_SectionGroup" minOccurs="0"/>
                <xsd:element ref="ns4:Is_Collaboration_Space_Locked" minOccurs="0"/>
                <xsd:element ref="ns4:IsNotebookLock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36cbe9-feea-4685-b03c-7f8d09c550f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33ce3ab-d172-455c-9989-f10facae9784"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MediaServiceLocation" ma:index="16" nillable="true" ma:displayName="MediaServiceLocation" ma:internalName="MediaServiceLocation"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NotebookType" ma:index="21" nillable="true" ma:displayName="Notebook Type" ma:internalName="NotebookType">
      <xsd:simpleType>
        <xsd:restriction base="dms:Text"/>
      </xsd:simpleType>
    </xsd:element>
    <xsd:element name="FolderType" ma:index="22" nillable="true" ma:displayName="Folder Type" ma:internalName="FolderType">
      <xsd:simpleType>
        <xsd:restriction base="dms:Text"/>
      </xsd:simpleType>
    </xsd:element>
    <xsd:element name="CultureName" ma:index="23" nillable="true" ma:displayName="Culture Name" ma:internalName="CultureName">
      <xsd:simpleType>
        <xsd:restriction base="dms:Text"/>
      </xsd:simpleType>
    </xsd:element>
    <xsd:element name="AppVersion" ma:index="24" nillable="true" ma:displayName="App Version" ma:internalName="AppVersion">
      <xsd:simpleType>
        <xsd:restriction base="dms:Text"/>
      </xsd:simpleType>
    </xsd:element>
    <xsd:element name="TeamsChannelId" ma:index="25" nillable="true" ma:displayName="Teams Channel Id" ma:internalName="TeamsChannelId">
      <xsd:simpleType>
        <xsd:restriction base="dms:Text"/>
      </xsd:simpleType>
    </xsd:element>
    <xsd:element name="Owner" ma:index="26"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7" nillable="true" ma:displayName="Math Settings" ma:internalName="Math_Settings">
      <xsd:simpleType>
        <xsd:restriction base="dms:Text"/>
      </xsd:simpleType>
    </xsd:element>
    <xsd:element name="DefaultSectionNames" ma:index="28" nillable="true" ma:displayName="Default Section Names" ma:internalName="DefaultSectionNames">
      <xsd:simpleType>
        <xsd:restriction base="dms:Note">
          <xsd:maxLength value="255"/>
        </xsd:restriction>
      </xsd:simpleType>
    </xsd:element>
    <xsd:element name="Templates" ma:index="29" nillable="true" ma:displayName="Templates" ma:internalName="Templates">
      <xsd:simpleType>
        <xsd:restriction base="dms:Note">
          <xsd:maxLength value="255"/>
        </xsd:restriction>
      </xsd:simpleType>
    </xsd:element>
    <xsd:element name="Teachers" ma:index="30"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31"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2"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3" nillable="true" ma:displayName="Distribution Groups" ma:internalName="Distribution_Groups">
      <xsd:simpleType>
        <xsd:restriction base="dms:Note">
          <xsd:maxLength value="255"/>
        </xsd:restriction>
      </xsd:simpleType>
    </xsd:element>
    <xsd:element name="LMS_Mappings" ma:index="34" nillable="true" ma:displayName="LMS Mappings" ma:internalName="LMS_Mappings">
      <xsd:simpleType>
        <xsd:restriction base="dms:Note">
          <xsd:maxLength value="255"/>
        </xsd:restriction>
      </xsd:simpleType>
    </xsd:element>
    <xsd:element name="Invited_Teachers" ma:index="35" nillable="true" ma:displayName="Invited Teachers" ma:internalName="Invited_Teachers">
      <xsd:simpleType>
        <xsd:restriction base="dms:Note">
          <xsd:maxLength value="255"/>
        </xsd:restriction>
      </xsd:simpleType>
    </xsd:element>
    <xsd:element name="Invited_Students" ma:index="36" nillable="true" ma:displayName="Invited Students" ma:internalName="Invited_Students">
      <xsd:simpleType>
        <xsd:restriction base="dms:Note">
          <xsd:maxLength value="255"/>
        </xsd:restriction>
      </xsd:simpleType>
    </xsd:element>
    <xsd:element name="Self_Registration_Enabled" ma:index="37" nillable="true" ma:displayName="Self Registration Enabled" ma:internalName="Self_Registration_Enabled">
      <xsd:simpleType>
        <xsd:restriction base="dms:Boolean"/>
      </xsd:simpleType>
    </xsd:element>
    <xsd:element name="Has_Teacher_Only_SectionGroup" ma:index="38" nillable="true" ma:displayName="Has Teacher Only SectionGroup" ma:internalName="Has_Teacher_Only_SectionGroup">
      <xsd:simpleType>
        <xsd:restriction base="dms:Boolean"/>
      </xsd:simpleType>
    </xsd:element>
    <xsd:element name="Is_Collaboration_Space_Locked" ma:index="39" nillable="true" ma:displayName="Is Collaboration Space Locked" ma:internalName="Is_Collaboration_Space_Locked">
      <xsd:simpleType>
        <xsd:restriction base="dms:Boolean"/>
      </xsd:simpleType>
    </xsd:element>
    <xsd:element name="IsNotebookLocked" ma:index="40" nillable="true" ma:displayName="Is Notebook Locked" ma:internalName="IsNotebookLocked">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6F79D9B-5A67-492D-BB4F-F3913BAD9421}">
  <ds:schemaRefs>
    <ds:schemaRef ds:uri="http://www.w3.org/XML/1998/namespace"/>
    <ds:schemaRef ds:uri="833ce3ab-d172-455c-9989-f10facae9784"/>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3936cbe9-feea-4685-b03c-7f8d09c550f1"/>
    <ds:schemaRef ds:uri="http://purl.org/dc/elements/1.1/"/>
    <ds:schemaRef ds:uri="http://purl.org/dc/terms/"/>
    <ds:schemaRef ds:uri="http://purl.org/dc/dcmitype/"/>
  </ds:schemaRefs>
</ds:datastoreItem>
</file>

<file path=customXml/itemProps2.xml><?xml version="1.0" encoding="utf-8"?>
<ds:datastoreItem xmlns:ds="http://schemas.openxmlformats.org/officeDocument/2006/customXml" ds:itemID="{2EDE3886-A981-4E1C-91EF-EBC9EDE0D1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36cbe9-feea-4685-b03c-7f8d09c550f1"/>
    <ds:schemaRef ds:uri="833ce3ab-d172-455c-9989-f10facae97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93B4755-80B4-4FE9-9650-4C80064448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13856</TotalTime>
  <Words>2822</Words>
  <Application>Microsoft Office PowerPoint</Application>
  <PresentationFormat>Widescreen</PresentationFormat>
  <Paragraphs>377</Paragraphs>
  <Slides>36</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Arial</vt:lpstr>
      <vt:lpstr>Calibri</vt:lpstr>
      <vt:lpstr>Century Gothic</vt:lpstr>
      <vt:lpstr>Consolas</vt:lpstr>
      <vt:lpstr>Courier New</vt:lpstr>
      <vt:lpstr>Helvetica Neue</vt:lpstr>
      <vt:lpstr>inherit</vt:lpstr>
      <vt:lpstr>Söhne</vt:lpstr>
      <vt:lpstr>Times New Roman</vt:lpstr>
      <vt:lpstr>Wingdings</vt:lpstr>
      <vt:lpstr>Office Theme</vt:lpstr>
      <vt:lpstr>Intermediate programming</vt:lpstr>
      <vt:lpstr>Debugging and documentation</vt:lpstr>
      <vt:lpstr>Overview</vt:lpstr>
      <vt:lpstr>PowerPoint Presentation</vt:lpstr>
      <vt:lpstr>PowerPoint Presentation</vt:lpstr>
      <vt:lpstr>PowerPoint Presentation</vt:lpstr>
      <vt:lpstr>PowerPoint Presentation</vt:lpstr>
      <vt:lpstr>PowerPoint Presentation</vt:lpstr>
      <vt:lpstr>Working with Bugs</vt:lpstr>
      <vt:lpstr>Hot take</vt:lpstr>
      <vt:lpstr>Python debugging tools</vt:lpstr>
      <vt:lpstr>Debugger workflow</vt:lpstr>
      <vt:lpstr>Debugger specific</vt:lpstr>
      <vt:lpstr>Debugger specific steps (cont.)</vt:lpstr>
      <vt:lpstr>Other key tasks</vt:lpstr>
      <vt:lpstr>PowerPoint Presentation</vt:lpstr>
      <vt:lpstr>Limits of debugging</vt:lpstr>
      <vt:lpstr>Enter logging</vt:lpstr>
      <vt:lpstr>PowerPoint Presentation</vt:lpstr>
      <vt:lpstr>Documenting CODE </vt:lpstr>
      <vt:lpstr>Conceptual</vt:lpstr>
      <vt:lpstr>Conceptual</vt:lpstr>
      <vt:lpstr>Conceptual</vt:lpstr>
      <vt:lpstr>Python documentation</vt:lpstr>
      <vt:lpstr>Pydoc</vt:lpstr>
      <vt:lpstr>Pydoc Commands</vt:lpstr>
      <vt:lpstr>Documentation standards</vt:lpstr>
      <vt:lpstr>Documentation</vt:lpstr>
      <vt:lpstr>Documentation – Internal You will provide this…</vt:lpstr>
      <vt:lpstr>Documentation – External  Lecturer will provide this…</vt:lpstr>
      <vt:lpstr>Sphinx??</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sockets</dc:title>
  <dc:creator>Sander Huijsen</dc:creator>
  <cp:lastModifiedBy>John Robertson</cp:lastModifiedBy>
  <cp:revision>67</cp:revision>
  <dcterms:created xsi:type="dcterms:W3CDTF">2020-10-19T10:08:52Z</dcterms:created>
  <dcterms:modified xsi:type="dcterms:W3CDTF">2025-09-02T07:13:34Z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3ac7e5b-5da2-46c7-8677-8a6b50f7d886_Enabled">
    <vt:lpwstr>true</vt:lpwstr>
  </property>
  <property fmtid="{D5CDD505-2E9C-101B-9397-08002B2CF9AE}" pid="3" name="MSIP_Label_f3ac7e5b-5da2-46c7-8677-8a6b50f7d886_SetDate">
    <vt:lpwstr>2023-07-25T09:26:32Z</vt:lpwstr>
  </property>
  <property fmtid="{D5CDD505-2E9C-101B-9397-08002B2CF9AE}" pid="4" name="MSIP_Label_f3ac7e5b-5da2-46c7-8677-8a6b50f7d886_Method">
    <vt:lpwstr>Standard</vt:lpwstr>
  </property>
  <property fmtid="{D5CDD505-2E9C-101B-9397-08002B2CF9AE}" pid="5" name="MSIP_Label_f3ac7e5b-5da2-46c7-8677-8a6b50f7d886_Name">
    <vt:lpwstr>Official</vt:lpwstr>
  </property>
  <property fmtid="{D5CDD505-2E9C-101B-9397-08002B2CF9AE}" pid="6" name="MSIP_Label_f3ac7e5b-5da2-46c7-8677-8a6b50f7d886_SiteId">
    <vt:lpwstr>218881e8-07ad-4142-87d7-f6b90d17009b</vt:lpwstr>
  </property>
  <property fmtid="{D5CDD505-2E9C-101B-9397-08002B2CF9AE}" pid="7" name="MSIP_Label_f3ac7e5b-5da2-46c7-8677-8a6b50f7d886_ActionId">
    <vt:lpwstr>049d08b0-2175-47f4-b162-74ea7c14a0a2</vt:lpwstr>
  </property>
  <property fmtid="{D5CDD505-2E9C-101B-9397-08002B2CF9AE}" pid="8" name="MSIP_Label_f3ac7e5b-5da2-46c7-8677-8a6b50f7d886_ContentBits">
    <vt:lpwstr>1</vt:lpwstr>
  </property>
  <property fmtid="{D5CDD505-2E9C-101B-9397-08002B2CF9AE}" pid="9" name="ClassificationContentMarkingHeaderLocations">
    <vt:lpwstr>Office Theme:7</vt:lpwstr>
  </property>
  <property fmtid="{D5CDD505-2E9C-101B-9397-08002B2CF9AE}" pid="10" name="ClassificationContentMarkingHeaderText">
    <vt:lpwstr>OFFICIAL</vt:lpwstr>
  </property>
</Properties>
</file>